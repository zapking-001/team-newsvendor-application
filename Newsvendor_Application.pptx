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to Serif Bold" charset="1" panose="02020800060500020200"/>
      <p:regular r:id="rId19"/>
    </p:embeddedFont>
    <p:embeddedFont>
      <p:font typeface="Arimo" charset="1" panose="020B0604020202020204"/>
      <p:regular r:id="rId20"/>
    </p:embeddedFont>
    <p:embeddedFont>
      <p:font typeface="Arimo Bold" charset="1" panose="020B0704020202020204"/>
      <p:regular r:id="rId21"/>
    </p:embeddedFont>
    <p:embeddedFont>
      <p:font typeface="Arimo Italics" charset="1" panose="020B0604020202090204"/>
      <p:regular r:id="rId22"/>
    </p:embeddedFont>
    <p:embeddedFont>
      <p:font typeface="Glacial Indifference Bold" charset="1" panose="00000800000000000000"/>
      <p:regular r:id="rId25"/>
    </p:embeddedFont>
    <p:embeddedFont>
      <p:font typeface="Oswald Bold" charset="1" panose="00000800000000000000"/>
      <p:regular r:id="rId26"/>
    </p:embeddedFont>
    <p:embeddedFont>
      <p:font typeface="Roboto Bold" charset="1" panose="02000000000000000000"/>
      <p:regular r:id="rId27"/>
    </p:embeddedFont>
    <p:embeddedFont>
      <p:font typeface="Noto Serif Bold Italics" charset="1" panose="02020800060500090200"/>
      <p:regular r:id="rId28"/>
    </p:embeddedFont>
    <p:embeddedFont>
      <p:font typeface="Craw Modern Italics" charset="1" panose="00000000000000000000"/>
      <p:regular r:id="rId29"/>
    </p:embeddedFont>
    <p:embeddedFont>
      <p:font typeface="Craw Modern" charset="1" panose="00000000000000000000"/>
      <p:regular r:id="rId30"/>
    </p:embeddedFont>
    <p:embeddedFont>
      <p:font typeface="Craw Modern Bold" charset="1" panose="00000000000000000000"/>
      <p:regular r:id="rId31"/>
    </p:embeddedFont>
    <p:embeddedFont>
      <p:font typeface="Times New Roman MT Bold" charset="1" panose="02030802070405020303"/>
      <p:regular r:id="rId32"/>
    </p:embeddedFont>
    <p:embeddedFont>
      <p:font typeface="Boardley" charset="1" panose="00000000000000000000"/>
      <p:regular r:id="rId34"/>
    </p:embeddedFont>
    <p:embeddedFont>
      <p:font typeface="Shrikhand" charset="1" panose="02000000000000000000"/>
      <p:regular r:id="rId35"/>
    </p:embeddedFont>
    <p:embeddedFont>
      <p:font typeface="Gagalin" charset="1" panose="00000500000000000000"/>
      <p:regular r:id="rId36"/>
    </p:embeddedFont>
    <p:embeddedFont>
      <p:font typeface="League Spartan" charset="1" panose="00000800000000000000"/>
      <p:regular r:id="rId37"/>
    </p:embeddedFont>
    <p:embeddedFont>
      <p:font typeface="Brick Sans" charset="1" panose="00000000000000000000"/>
      <p:regular r:id="rId39"/>
    </p:embeddedFont>
    <p:embeddedFont>
      <p:font typeface="Oswald" charset="1" panose="00000500000000000000"/>
      <p:regular r:id="rId40"/>
    </p:embeddedFont>
    <p:embeddedFont>
      <p:font typeface="Yeseva One" charset="1" panose="0000050000000000000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4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5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jpe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3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7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true" flipV="false" rot="0">
            <a:off x="11313763" y="2678387"/>
            <a:ext cx="6974237" cy="4114800"/>
          </a:xfrm>
          <a:custGeom>
            <a:avLst/>
            <a:gdLst/>
            <a:ahLst/>
            <a:cxnLst/>
            <a:rect r="r" b="b" t="t" l="l"/>
            <a:pathLst>
              <a:path h="4114800" w="6974237">
                <a:moveTo>
                  <a:pt x="6974237" y="0"/>
                </a:moveTo>
                <a:lnTo>
                  <a:pt x="0" y="0"/>
                </a:lnTo>
                <a:lnTo>
                  <a:pt x="0" y="4114800"/>
                </a:lnTo>
                <a:lnTo>
                  <a:pt x="6974237" y="4114800"/>
                </a:lnTo>
                <a:lnTo>
                  <a:pt x="6974237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2206" y="6857105"/>
            <a:ext cx="4130289" cy="4114800"/>
          </a:xfrm>
          <a:custGeom>
            <a:avLst/>
            <a:gdLst/>
            <a:ahLst/>
            <a:cxnLst/>
            <a:rect r="r" b="b" t="t" l="l"/>
            <a:pathLst>
              <a:path h="4114800" w="4130289">
                <a:moveTo>
                  <a:pt x="0" y="0"/>
                </a:moveTo>
                <a:lnTo>
                  <a:pt x="4130289" y="0"/>
                </a:lnTo>
                <a:lnTo>
                  <a:pt x="413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8" y="2727817"/>
            <a:ext cx="4976813" cy="578253"/>
            <a:chOff x="0" y="0"/>
            <a:chExt cx="6114263" cy="710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14288" cy="710438"/>
            </a:xfrm>
            <a:custGeom>
              <a:avLst/>
              <a:gdLst/>
              <a:ahLst/>
              <a:cxnLst/>
              <a:rect r="r" b="b" t="t" l="l"/>
              <a:pathLst>
                <a:path h="710438" w="6114288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5842127" y="0"/>
                  </a:lnTo>
                  <a:cubicBezTo>
                    <a:pt x="5992495" y="0"/>
                    <a:pt x="6114288" y="121920"/>
                    <a:pt x="6114288" y="272161"/>
                  </a:cubicBezTo>
                  <a:lnTo>
                    <a:pt x="6114288" y="438277"/>
                  </a:lnTo>
                  <a:cubicBezTo>
                    <a:pt x="6114288" y="588645"/>
                    <a:pt x="5992368" y="710438"/>
                    <a:pt x="5842127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7312971"/>
            <a:ext cx="16303523" cy="1658388"/>
            <a:chOff x="0" y="0"/>
            <a:chExt cx="21738031" cy="2211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8082" cy="2211197"/>
            </a:xfrm>
            <a:custGeom>
              <a:avLst/>
              <a:gdLst/>
              <a:ahLst/>
              <a:cxnLst/>
              <a:rect r="r" b="b" t="t" l="l"/>
              <a:pathLst>
                <a:path h="2211197" w="21738082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21397849" y="0"/>
                  </a:lnTo>
                  <a:cubicBezTo>
                    <a:pt x="21585810" y="0"/>
                    <a:pt x="21738082" y="152273"/>
                    <a:pt x="21738082" y="340233"/>
                  </a:cubicBezTo>
                  <a:lnTo>
                    <a:pt x="21738082" y="1870964"/>
                  </a:lnTo>
                  <a:cubicBezTo>
                    <a:pt x="21738082" y="2058924"/>
                    <a:pt x="21585810" y="2211197"/>
                    <a:pt x="21397849" y="2211197"/>
                  </a:cubicBezTo>
                  <a:lnTo>
                    <a:pt x="340233" y="2211197"/>
                  </a:lnTo>
                  <a:cubicBezTo>
                    <a:pt x="152273" y="2211197"/>
                    <a:pt x="0" y="2058797"/>
                    <a:pt x="0" y="1870964"/>
                  </a:cubicBezTo>
                  <a:close/>
                </a:path>
              </a:pathLst>
            </a:custGeom>
            <a:solidFill>
              <a:srgbClr val="B3FFE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5759" y="7743082"/>
            <a:ext cx="354359" cy="283521"/>
            <a:chOff x="0" y="0"/>
            <a:chExt cx="472478" cy="37802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71" r="-8" b="-65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1287066"/>
            <a:ext cx="11460481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Optimizing Umbrella Inventory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345" y="2758383"/>
            <a:ext cx="553673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STOCHASTIC NEWSVENDOR APPROACH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3515620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Author: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Pritham Prajwin V (BSD-BG-2512) · </a:t>
            </a:r>
            <a:r>
              <a:rPr lang="en-US" sz="21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Institution: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ISI Bangalore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4480169"/>
            <a:ext cx="7835656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 Metro Station Scenario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5528367"/>
            <a:ext cx="16303523" cy="132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 sudden 3 PM downpour at MG Road Metro or Vidhana Soudha. commuters scramble for cover while a street vendor watches demand spike in minutes. Every morning, this vendor must decide how many umbrellas to stock, betting on Bangalore's famously unpredictable weather with no chance to restock mid-day.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3630" y="7562555"/>
            <a:ext cx="1509861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Statement: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Determine the optimal daily inventory </a:t>
            </a:r>
            <a:r>
              <a:rPr lang="en-US" sz="2187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Q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that minimizes the total expected cost under stochastic demand.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134" y="140941"/>
            <a:ext cx="18288000" cy="2849013"/>
            <a:chOff x="0" y="0"/>
            <a:chExt cx="24384000" cy="379868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798697"/>
            </a:xfrm>
            <a:custGeom>
              <a:avLst/>
              <a:gdLst/>
              <a:ahLst/>
              <a:cxnLst/>
              <a:rect r="r" b="b" t="t" l="l"/>
              <a:pathLst>
                <a:path h="379869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798697"/>
                  </a:lnTo>
                  <a:lnTo>
                    <a:pt x="0" y="3798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" t="0" r="-1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9911" y="4255741"/>
            <a:ext cx="2388241" cy="403917"/>
            <a:chOff x="0" y="0"/>
            <a:chExt cx="3184322" cy="5385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84398" cy="538607"/>
            </a:xfrm>
            <a:custGeom>
              <a:avLst/>
              <a:gdLst/>
              <a:ahLst/>
              <a:cxnLst/>
              <a:rect r="r" b="b" t="t" l="l"/>
              <a:pathLst>
                <a:path h="538607" w="3184398">
                  <a:moveTo>
                    <a:pt x="0" y="214757"/>
                  </a:moveTo>
                  <a:cubicBezTo>
                    <a:pt x="0" y="96012"/>
                    <a:pt x="98171" y="0"/>
                    <a:pt x="218948" y="0"/>
                  </a:cubicBezTo>
                  <a:lnTo>
                    <a:pt x="2965450" y="0"/>
                  </a:lnTo>
                  <a:lnTo>
                    <a:pt x="2965450" y="6350"/>
                  </a:lnTo>
                  <a:lnTo>
                    <a:pt x="2965450" y="0"/>
                  </a:lnTo>
                  <a:cubicBezTo>
                    <a:pt x="3086227" y="0"/>
                    <a:pt x="3184398" y="96012"/>
                    <a:pt x="3184398" y="214757"/>
                  </a:cubicBezTo>
                  <a:lnTo>
                    <a:pt x="3178048" y="214757"/>
                  </a:lnTo>
                  <a:lnTo>
                    <a:pt x="3184398" y="214757"/>
                  </a:lnTo>
                  <a:lnTo>
                    <a:pt x="3184398" y="323850"/>
                  </a:lnTo>
                  <a:lnTo>
                    <a:pt x="3178048" y="323850"/>
                  </a:lnTo>
                  <a:lnTo>
                    <a:pt x="3184398" y="323850"/>
                  </a:lnTo>
                  <a:cubicBezTo>
                    <a:pt x="3184398" y="442595"/>
                    <a:pt x="3086227" y="538607"/>
                    <a:pt x="2965450" y="538607"/>
                  </a:cubicBezTo>
                  <a:lnTo>
                    <a:pt x="2965450" y="532257"/>
                  </a:lnTo>
                  <a:lnTo>
                    <a:pt x="2965450" y="538607"/>
                  </a:lnTo>
                  <a:lnTo>
                    <a:pt x="218948" y="538607"/>
                  </a:lnTo>
                  <a:lnTo>
                    <a:pt x="218948" y="532257"/>
                  </a:lnTo>
                  <a:lnTo>
                    <a:pt x="218948" y="538607"/>
                  </a:lnTo>
                  <a:cubicBezTo>
                    <a:pt x="98171" y="538607"/>
                    <a:pt x="0" y="442595"/>
                    <a:pt x="0" y="323850"/>
                  </a:cubicBezTo>
                  <a:lnTo>
                    <a:pt x="0" y="214757"/>
                  </a:lnTo>
                  <a:lnTo>
                    <a:pt x="6350" y="214757"/>
                  </a:lnTo>
                  <a:lnTo>
                    <a:pt x="0" y="214757"/>
                  </a:lnTo>
                  <a:moveTo>
                    <a:pt x="12700" y="214757"/>
                  </a:moveTo>
                  <a:lnTo>
                    <a:pt x="12700" y="323850"/>
                  </a:lnTo>
                  <a:lnTo>
                    <a:pt x="6350" y="323850"/>
                  </a:lnTo>
                  <a:lnTo>
                    <a:pt x="12700" y="323850"/>
                  </a:lnTo>
                  <a:cubicBezTo>
                    <a:pt x="12700" y="435356"/>
                    <a:pt x="104902" y="525907"/>
                    <a:pt x="218948" y="525907"/>
                  </a:cubicBezTo>
                  <a:lnTo>
                    <a:pt x="2965450" y="525907"/>
                  </a:lnTo>
                  <a:cubicBezTo>
                    <a:pt x="3079496" y="525907"/>
                    <a:pt x="3171698" y="435356"/>
                    <a:pt x="3171698" y="323850"/>
                  </a:cubicBezTo>
                  <a:lnTo>
                    <a:pt x="3171698" y="214757"/>
                  </a:lnTo>
                  <a:cubicBezTo>
                    <a:pt x="3171571" y="103251"/>
                    <a:pt x="3079369" y="12700"/>
                    <a:pt x="2965450" y="12700"/>
                  </a:cubicBezTo>
                  <a:lnTo>
                    <a:pt x="218948" y="12700"/>
                  </a:lnTo>
                  <a:lnTo>
                    <a:pt x="218948" y="6350"/>
                  </a:lnTo>
                  <a:lnTo>
                    <a:pt x="218948" y="12700"/>
                  </a:lnTo>
                  <a:cubicBezTo>
                    <a:pt x="104902" y="12700"/>
                    <a:pt x="12700" y="103251"/>
                    <a:pt x="12700" y="214757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9911" y="4837062"/>
            <a:ext cx="7415660" cy="2341807"/>
            <a:chOff x="0" y="0"/>
            <a:chExt cx="9887547" cy="3122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9874885" cy="3109722"/>
            </a:xfrm>
            <a:custGeom>
              <a:avLst/>
              <a:gdLst/>
              <a:ahLst/>
              <a:cxnLst/>
              <a:rect r="r" b="b" t="t" l="l"/>
              <a:pathLst>
                <a:path h="3109722" w="9874885">
                  <a:moveTo>
                    <a:pt x="0" y="260477"/>
                  </a:moveTo>
                  <a:cubicBezTo>
                    <a:pt x="0" y="116586"/>
                    <a:pt x="116967" y="0"/>
                    <a:pt x="261239" y="0"/>
                  </a:cubicBezTo>
                  <a:lnTo>
                    <a:pt x="9613646" y="0"/>
                  </a:lnTo>
                  <a:cubicBezTo>
                    <a:pt x="9757918" y="0"/>
                    <a:pt x="9874885" y="116586"/>
                    <a:pt x="9874885" y="260477"/>
                  </a:cubicBezTo>
                  <a:lnTo>
                    <a:pt x="9874885" y="2849245"/>
                  </a:lnTo>
                  <a:cubicBezTo>
                    <a:pt x="9874885" y="2993136"/>
                    <a:pt x="9757918" y="3109722"/>
                    <a:pt x="9613646" y="3109722"/>
                  </a:cubicBezTo>
                  <a:lnTo>
                    <a:pt x="261239" y="3109722"/>
                  </a:lnTo>
                  <a:cubicBezTo>
                    <a:pt x="116967" y="3109722"/>
                    <a:pt x="0" y="2993136"/>
                    <a:pt x="0" y="2849245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7585" cy="3122422"/>
            </a:xfrm>
            <a:custGeom>
              <a:avLst/>
              <a:gdLst/>
              <a:ahLst/>
              <a:cxnLst/>
              <a:rect r="r" b="b" t="t" l="l"/>
              <a:pathLst>
                <a:path h="3122422" w="9887585">
                  <a:moveTo>
                    <a:pt x="0" y="266827"/>
                  </a:moveTo>
                  <a:cubicBezTo>
                    <a:pt x="0" y="119507"/>
                    <a:pt x="119761" y="0"/>
                    <a:pt x="267589" y="0"/>
                  </a:cubicBezTo>
                  <a:lnTo>
                    <a:pt x="9619996" y="0"/>
                  </a:lnTo>
                  <a:lnTo>
                    <a:pt x="9619996" y="6350"/>
                  </a:lnTo>
                  <a:lnTo>
                    <a:pt x="9619996" y="0"/>
                  </a:lnTo>
                  <a:cubicBezTo>
                    <a:pt x="9767697" y="0"/>
                    <a:pt x="9887585" y="119507"/>
                    <a:pt x="9887585" y="266827"/>
                  </a:cubicBezTo>
                  <a:lnTo>
                    <a:pt x="9881235" y="266827"/>
                  </a:lnTo>
                  <a:lnTo>
                    <a:pt x="9887585" y="266827"/>
                  </a:lnTo>
                  <a:lnTo>
                    <a:pt x="9887585" y="2855595"/>
                  </a:lnTo>
                  <a:lnTo>
                    <a:pt x="9881235" y="2855595"/>
                  </a:lnTo>
                  <a:lnTo>
                    <a:pt x="9887585" y="2855595"/>
                  </a:lnTo>
                  <a:cubicBezTo>
                    <a:pt x="9887585" y="3003042"/>
                    <a:pt x="9767824" y="3122422"/>
                    <a:pt x="9619996" y="3122422"/>
                  </a:cubicBezTo>
                  <a:lnTo>
                    <a:pt x="9619996" y="3116072"/>
                  </a:lnTo>
                  <a:lnTo>
                    <a:pt x="9619996" y="3122422"/>
                  </a:lnTo>
                  <a:lnTo>
                    <a:pt x="267589" y="3122422"/>
                  </a:lnTo>
                  <a:lnTo>
                    <a:pt x="267589" y="3116072"/>
                  </a:lnTo>
                  <a:lnTo>
                    <a:pt x="267589" y="3122422"/>
                  </a:lnTo>
                  <a:cubicBezTo>
                    <a:pt x="119761" y="3122422"/>
                    <a:pt x="0" y="3002915"/>
                    <a:pt x="0" y="2855595"/>
                  </a:cubicBezTo>
                  <a:lnTo>
                    <a:pt x="0" y="266827"/>
                  </a:lnTo>
                  <a:lnTo>
                    <a:pt x="6350" y="266827"/>
                  </a:lnTo>
                  <a:lnTo>
                    <a:pt x="0" y="266827"/>
                  </a:lnTo>
                  <a:moveTo>
                    <a:pt x="12700" y="266827"/>
                  </a:moveTo>
                  <a:lnTo>
                    <a:pt x="12700" y="2855595"/>
                  </a:lnTo>
                  <a:lnTo>
                    <a:pt x="6350" y="2855595"/>
                  </a:lnTo>
                  <a:lnTo>
                    <a:pt x="12700" y="2855595"/>
                  </a:lnTo>
                  <a:cubicBezTo>
                    <a:pt x="12700" y="2995930"/>
                    <a:pt x="126746" y="3109722"/>
                    <a:pt x="267589" y="3109722"/>
                  </a:cubicBezTo>
                  <a:lnTo>
                    <a:pt x="9619996" y="3109722"/>
                  </a:lnTo>
                  <a:cubicBezTo>
                    <a:pt x="9760839" y="3109722"/>
                    <a:pt x="9874885" y="2995930"/>
                    <a:pt x="9874885" y="2855595"/>
                  </a:cubicBezTo>
                  <a:lnTo>
                    <a:pt x="9874885" y="266827"/>
                  </a:lnTo>
                  <a:cubicBezTo>
                    <a:pt x="9874885" y="126492"/>
                    <a:pt x="9760712" y="12700"/>
                    <a:pt x="9619996" y="12700"/>
                  </a:cubicBezTo>
                  <a:lnTo>
                    <a:pt x="267589" y="12700"/>
                  </a:lnTo>
                  <a:lnTo>
                    <a:pt x="267589" y="6350"/>
                  </a:lnTo>
                  <a:lnTo>
                    <a:pt x="267589" y="12700"/>
                  </a:lnTo>
                  <a:cubicBezTo>
                    <a:pt x="126746" y="12700"/>
                    <a:pt x="12700" y="126492"/>
                    <a:pt x="12700" y="266827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81188" y="5068338"/>
            <a:ext cx="651119" cy="651119"/>
            <a:chOff x="0" y="0"/>
            <a:chExt cx="868159" cy="8681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8172" cy="868172"/>
            </a:xfrm>
            <a:custGeom>
              <a:avLst/>
              <a:gdLst/>
              <a:ahLst/>
              <a:cxnLst/>
              <a:rect r="r" b="b" t="t" l="l"/>
              <a:pathLst>
                <a:path h="868172" w="868172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cubicBezTo>
                    <a:pt x="673862" y="0"/>
                    <a:pt x="868172" y="194310"/>
                    <a:pt x="868172" y="434086"/>
                  </a:cubicBezTo>
                  <a:cubicBezTo>
                    <a:pt x="868172" y="673862"/>
                    <a:pt x="673862" y="868172"/>
                    <a:pt x="434086" y="868172"/>
                  </a:cubicBezTo>
                  <a:cubicBezTo>
                    <a:pt x="194310" y="868172"/>
                    <a:pt x="0" y="673862"/>
                    <a:pt x="0" y="434086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2060229" y="5247380"/>
            <a:ext cx="293046" cy="293046"/>
          </a:xfrm>
          <a:custGeom>
            <a:avLst/>
            <a:gdLst/>
            <a:ahLst/>
            <a:cxnLst/>
            <a:rect r="r" b="b" t="t" l="l"/>
            <a:pathLst>
              <a:path h="293046" w="293046">
                <a:moveTo>
                  <a:pt x="0" y="0"/>
                </a:moveTo>
                <a:lnTo>
                  <a:pt x="293046" y="0"/>
                </a:lnTo>
                <a:lnTo>
                  <a:pt x="293046" y="293046"/>
                </a:lnTo>
                <a:lnTo>
                  <a:pt x="0" y="293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12" t="0" r="-1612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222134" y="4837062"/>
            <a:ext cx="7415803" cy="2341807"/>
            <a:chOff x="0" y="0"/>
            <a:chExt cx="9887737" cy="31224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9875012" cy="3109722"/>
            </a:xfrm>
            <a:custGeom>
              <a:avLst/>
              <a:gdLst/>
              <a:ahLst/>
              <a:cxnLst/>
              <a:rect r="r" b="b" t="t" l="l"/>
              <a:pathLst>
                <a:path h="3109722" w="9875012">
                  <a:moveTo>
                    <a:pt x="0" y="260477"/>
                  </a:moveTo>
                  <a:cubicBezTo>
                    <a:pt x="0" y="116586"/>
                    <a:pt x="116967" y="0"/>
                    <a:pt x="261239" y="0"/>
                  </a:cubicBezTo>
                  <a:lnTo>
                    <a:pt x="9613773" y="0"/>
                  </a:lnTo>
                  <a:cubicBezTo>
                    <a:pt x="9758045" y="0"/>
                    <a:pt x="9875012" y="116586"/>
                    <a:pt x="9875012" y="260477"/>
                  </a:cubicBezTo>
                  <a:lnTo>
                    <a:pt x="9875012" y="2849245"/>
                  </a:lnTo>
                  <a:cubicBezTo>
                    <a:pt x="9875012" y="2993136"/>
                    <a:pt x="9758045" y="3109722"/>
                    <a:pt x="9613773" y="3109722"/>
                  </a:cubicBezTo>
                  <a:lnTo>
                    <a:pt x="261239" y="3109722"/>
                  </a:lnTo>
                  <a:cubicBezTo>
                    <a:pt x="116967" y="3109722"/>
                    <a:pt x="0" y="2993136"/>
                    <a:pt x="0" y="2849245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87712" cy="3122422"/>
            </a:xfrm>
            <a:custGeom>
              <a:avLst/>
              <a:gdLst/>
              <a:ahLst/>
              <a:cxnLst/>
              <a:rect r="r" b="b" t="t" l="l"/>
              <a:pathLst>
                <a:path h="3122422" w="9887712">
                  <a:moveTo>
                    <a:pt x="0" y="266827"/>
                  </a:moveTo>
                  <a:cubicBezTo>
                    <a:pt x="0" y="119507"/>
                    <a:pt x="119761" y="0"/>
                    <a:pt x="267589" y="0"/>
                  </a:cubicBezTo>
                  <a:lnTo>
                    <a:pt x="9620123" y="0"/>
                  </a:lnTo>
                  <a:lnTo>
                    <a:pt x="9620123" y="6350"/>
                  </a:lnTo>
                  <a:lnTo>
                    <a:pt x="9620123" y="0"/>
                  </a:lnTo>
                  <a:cubicBezTo>
                    <a:pt x="9767824" y="0"/>
                    <a:pt x="9887712" y="119507"/>
                    <a:pt x="9887712" y="266827"/>
                  </a:cubicBezTo>
                  <a:lnTo>
                    <a:pt x="9881362" y="266827"/>
                  </a:lnTo>
                  <a:lnTo>
                    <a:pt x="9887712" y="266827"/>
                  </a:lnTo>
                  <a:lnTo>
                    <a:pt x="9887712" y="2855595"/>
                  </a:lnTo>
                  <a:lnTo>
                    <a:pt x="9881362" y="2855595"/>
                  </a:lnTo>
                  <a:lnTo>
                    <a:pt x="9887712" y="2855595"/>
                  </a:lnTo>
                  <a:cubicBezTo>
                    <a:pt x="9887712" y="3003042"/>
                    <a:pt x="9767951" y="3122422"/>
                    <a:pt x="9620123" y="3122422"/>
                  </a:cubicBezTo>
                  <a:lnTo>
                    <a:pt x="9620123" y="3116072"/>
                  </a:lnTo>
                  <a:lnTo>
                    <a:pt x="9620123" y="3122422"/>
                  </a:lnTo>
                  <a:lnTo>
                    <a:pt x="267589" y="3122422"/>
                  </a:lnTo>
                  <a:lnTo>
                    <a:pt x="267589" y="3116072"/>
                  </a:lnTo>
                  <a:lnTo>
                    <a:pt x="267589" y="3122422"/>
                  </a:lnTo>
                  <a:cubicBezTo>
                    <a:pt x="119761" y="3122422"/>
                    <a:pt x="0" y="3002915"/>
                    <a:pt x="0" y="2855595"/>
                  </a:cubicBezTo>
                  <a:lnTo>
                    <a:pt x="0" y="266827"/>
                  </a:lnTo>
                  <a:lnTo>
                    <a:pt x="6350" y="266827"/>
                  </a:lnTo>
                  <a:lnTo>
                    <a:pt x="0" y="266827"/>
                  </a:lnTo>
                  <a:moveTo>
                    <a:pt x="12700" y="266827"/>
                  </a:moveTo>
                  <a:lnTo>
                    <a:pt x="12700" y="2855595"/>
                  </a:lnTo>
                  <a:lnTo>
                    <a:pt x="6350" y="2855595"/>
                  </a:lnTo>
                  <a:lnTo>
                    <a:pt x="12700" y="2855595"/>
                  </a:lnTo>
                  <a:cubicBezTo>
                    <a:pt x="12700" y="2995930"/>
                    <a:pt x="126746" y="3109722"/>
                    <a:pt x="267589" y="3109722"/>
                  </a:cubicBezTo>
                  <a:lnTo>
                    <a:pt x="9620123" y="3109722"/>
                  </a:lnTo>
                  <a:cubicBezTo>
                    <a:pt x="9760966" y="3109722"/>
                    <a:pt x="9875012" y="2995930"/>
                    <a:pt x="9875012" y="2855595"/>
                  </a:cubicBezTo>
                  <a:lnTo>
                    <a:pt x="9875012" y="266827"/>
                  </a:lnTo>
                  <a:cubicBezTo>
                    <a:pt x="9875012" y="126492"/>
                    <a:pt x="9760966" y="12700"/>
                    <a:pt x="9620123" y="12700"/>
                  </a:cubicBezTo>
                  <a:lnTo>
                    <a:pt x="267589" y="12700"/>
                  </a:lnTo>
                  <a:lnTo>
                    <a:pt x="267589" y="6350"/>
                  </a:lnTo>
                  <a:lnTo>
                    <a:pt x="267589" y="12700"/>
                  </a:lnTo>
                  <a:cubicBezTo>
                    <a:pt x="126746" y="12700"/>
                    <a:pt x="12700" y="126492"/>
                    <a:pt x="12700" y="266827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53410" y="5068338"/>
            <a:ext cx="651119" cy="651119"/>
            <a:chOff x="0" y="0"/>
            <a:chExt cx="868159" cy="8681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8172" cy="868172"/>
            </a:xfrm>
            <a:custGeom>
              <a:avLst/>
              <a:gdLst/>
              <a:ahLst/>
              <a:cxnLst/>
              <a:rect r="r" b="b" t="t" l="l"/>
              <a:pathLst>
                <a:path h="868172" w="868172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cubicBezTo>
                    <a:pt x="673862" y="0"/>
                    <a:pt x="868172" y="194310"/>
                    <a:pt x="868172" y="434086"/>
                  </a:cubicBezTo>
                  <a:cubicBezTo>
                    <a:pt x="868172" y="673862"/>
                    <a:pt x="673862" y="868172"/>
                    <a:pt x="434086" y="868172"/>
                  </a:cubicBezTo>
                  <a:cubicBezTo>
                    <a:pt x="194310" y="868172"/>
                    <a:pt x="0" y="673862"/>
                    <a:pt x="0" y="434086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9632452" y="5247380"/>
            <a:ext cx="293046" cy="293046"/>
          </a:xfrm>
          <a:custGeom>
            <a:avLst/>
            <a:gdLst/>
            <a:ahLst/>
            <a:cxnLst/>
            <a:rect r="r" b="b" t="t" l="l"/>
            <a:pathLst>
              <a:path h="293046" w="293046">
                <a:moveTo>
                  <a:pt x="0" y="0"/>
                </a:moveTo>
                <a:lnTo>
                  <a:pt x="293046" y="0"/>
                </a:lnTo>
                <a:lnTo>
                  <a:pt x="293046" y="293046"/>
                </a:lnTo>
                <a:lnTo>
                  <a:pt x="0" y="2930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291" t="0" r="-11288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649911" y="7335441"/>
            <a:ext cx="7415660" cy="2336749"/>
            <a:chOff x="0" y="0"/>
            <a:chExt cx="9887547" cy="31156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9874885" cy="3102991"/>
            </a:xfrm>
            <a:custGeom>
              <a:avLst/>
              <a:gdLst/>
              <a:ahLst/>
              <a:cxnLst/>
              <a:rect r="r" b="b" t="t" l="l"/>
              <a:pathLst>
                <a:path h="3102991" w="9874885">
                  <a:moveTo>
                    <a:pt x="0" y="260477"/>
                  </a:moveTo>
                  <a:cubicBezTo>
                    <a:pt x="0" y="116586"/>
                    <a:pt x="116967" y="0"/>
                    <a:pt x="261239" y="0"/>
                  </a:cubicBezTo>
                  <a:lnTo>
                    <a:pt x="9613646" y="0"/>
                  </a:lnTo>
                  <a:cubicBezTo>
                    <a:pt x="9757918" y="0"/>
                    <a:pt x="9874885" y="116586"/>
                    <a:pt x="9874885" y="260477"/>
                  </a:cubicBezTo>
                  <a:lnTo>
                    <a:pt x="9874885" y="2842514"/>
                  </a:lnTo>
                  <a:cubicBezTo>
                    <a:pt x="9874885" y="2986405"/>
                    <a:pt x="9757918" y="3102991"/>
                    <a:pt x="9613646" y="3102991"/>
                  </a:cubicBezTo>
                  <a:lnTo>
                    <a:pt x="261239" y="3102991"/>
                  </a:lnTo>
                  <a:cubicBezTo>
                    <a:pt x="116967" y="3102991"/>
                    <a:pt x="0" y="2986278"/>
                    <a:pt x="0" y="2842514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87585" cy="3115691"/>
            </a:xfrm>
            <a:custGeom>
              <a:avLst/>
              <a:gdLst/>
              <a:ahLst/>
              <a:cxnLst/>
              <a:rect r="r" b="b" t="t" l="l"/>
              <a:pathLst>
                <a:path h="3115691" w="9887585">
                  <a:moveTo>
                    <a:pt x="0" y="266827"/>
                  </a:moveTo>
                  <a:cubicBezTo>
                    <a:pt x="0" y="119507"/>
                    <a:pt x="119761" y="0"/>
                    <a:pt x="267589" y="0"/>
                  </a:cubicBezTo>
                  <a:lnTo>
                    <a:pt x="9619996" y="0"/>
                  </a:lnTo>
                  <a:lnTo>
                    <a:pt x="9619996" y="6350"/>
                  </a:lnTo>
                  <a:lnTo>
                    <a:pt x="9619996" y="0"/>
                  </a:lnTo>
                  <a:cubicBezTo>
                    <a:pt x="9767697" y="0"/>
                    <a:pt x="9887585" y="119507"/>
                    <a:pt x="9887585" y="266827"/>
                  </a:cubicBezTo>
                  <a:lnTo>
                    <a:pt x="9881235" y="266827"/>
                  </a:lnTo>
                  <a:lnTo>
                    <a:pt x="9887585" y="266827"/>
                  </a:lnTo>
                  <a:lnTo>
                    <a:pt x="9887585" y="2848864"/>
                  </a:lnTo>
                  <a:lnTo>
                    <a:pt x="9881235" y="2848864"/>
                  </a:lnTo>
                  <a:lnTo>
                    <a:pt x="9887585" y="2848864"/>
                  </a:lnTo>
                  <a:cubicBezTo>
                    <a:pt x="9887585" y="2996311"/>
                    <a:pt x="9767824" y="3115691"/>
                    <a:pt x="9619996" y="3115691"/>
                  </a:cubicBezTo>
                  <a:lnTo>
                    <a:pt x="9619996" y="3109341"/>
                  </a:lnTo>
                  <a:lnTo>
                    <a:pt x="9619996" y="3115691"/>
                  </a:lnTo>
                  <a:lnTo>
                    <a:pt x="267589" y="3115691"/>
                  </a:lnTo>
                  <a:lnTo>
                    <a:pt x="267589" y="3109341"/>
                  </a:lnTo>
                  <a:lnTo>
                    <a:pt x="267589" y="3115691"/>
                  </a:lnTo>
                  <a:cubicBezTo>
                    <a:pt x="119761" y="3115691"/>
                    <a:pt x="0" y="2996184"/>
                    <a:pt x="0" y="2848864"/>
                  </a:cubicBezTo>
                  <a:lnTo>
                    <a:pt x="0" y="266827"/>
                  </a:lnTo>
                  <a:lnTo>
                    <a:pt x="6350" y="266827"/>
                  </a:lnTo>
                  <a:lnTo>
                    <a:pt x="0" y="266827"/>
                  </a:lnTo>
                  <a:moveTo>
                    <a:pt x="12700" y="266827"/>
                  </a:moveTo>
                  <a:lnTo>
                    <a:pt x="12700" y="2848864"/>
                  </a:lnTo>
                  <a:lnTo>
                    <a:pt x="6350" y="2848864"/>
                  </a:lnTo>
                  <a:lnTo>
                    <a:pt x="12700" y="2848864"/>
                  </a:lnTo>
                  <a:cubicBezTo>
                    <a:pt x="12700" y="2989199"/>
                    <a:pt x="126746" y="3102991"/>
                    <a:pt x="267589" y="3102991"/>
                  </a:cubicBezTo>
                  <a:lnTo>
                    <a:pt x="9619996" y="3102991"/>
                  </a:lnTo>
                  <a:cubicBezTo>
                    <a:pt x="9760839" y="3102991"/>
                    <a:pt x="9874885" y="2989199"/>
                    <a:pt x="9874885" y="2848864"/>
                  </a:cubicBezTo>
                  <a:lnTo>
                    <a:pt x="9874885" y="266827"/>
                  </a:lnTo>
                  <a:cubicBezTo>
                    <a:pt x="9874885" y="126492"/>
                    <a:pt x="9760712" y="12700"/>
                    <a:pt x="9619996" y="12700"/>
                  </a:cubicBezTo>
                  <a:lnTo>
                    <a:pt x="267589" y="12700"/>
                  </a:lnTo>
                  <a:lnTo>
                    <a:pt x="267589" y="6350"/>
                  </a:lnTo>
                  <a:lnTo>
                    <a:pt x="267589" y="12700"/>
                  </a:lnTo>
                  <a:cubicBezTo>
                    <a:pt x="126746" y="12700"/>
                    <a:pt x="12700" y="126492"/>
                    <a:pt x="12700" y="266827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81188" y="7566717"/>
            <a:ext cx="651119" cy="651119"/>
            <a:chOff x="0" y="0"/>
            <a:chExt cx="868159" cy="8681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8172" cy="868172"/>
            </a:xfrm>
            <a:custGeom>
              <a:avLst/>
              <a:gdLst/>
              <a:ahLst/>
              <a:cxnLst/>
              <a:rect r="r" b="b" t="t" l="l"/>
              <a:pathLst>
                <a:path h="868172" w="868172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cubicBezTo>
                    <a:pt x="673862" y="0"/>
                    <a:pt x="868172" y="194310"/>
                    <a:pt x="868172" y="434086"/>
                  </a:cubicBezTo>
                  <a:cubicBezTo>
                    <a:pt x="868172" y="673862"/>
                    <a:pt x="673862" y="868172"/>
                    <a:pt x="434086" y="868172"/>
                  </a:cubicBezTo>
                  <a:cubicBezTo>
                    <a:pt x="194310" y="868172"/>
                    <a:pt x="0" y="673862"/>
                    <a:pt x="0" y="434086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2060229" y="7745759"/>
            <a:ext cx="293046" cy="293046"/>
          </a:xfrm>
          <a:custGeom>
            <a:avLst/>
            <a:gdLst/>
            <a:ahLst/>
            <a:cxnLst/>
            <a:rect r="r" b="b" t="t" l="l"/>
            <a:pathLst>
              <a:path h="293046" w="293046">
                <a:moveTo>
                  <a:pt x="0" y="0"/>
                </a:moveTo>
                <a:lnTo>
                  <a:pt x="293046" y="0"/>
                </a:lnTo>
                <a:lnTo>
                  <a:pt x="293046" y="293046"/>
                </a:lnTo>
                <a:lnTo>
                  <a:pt x="0" y="2930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12" t="0" r="-1612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222134" y="7335441"/>
            <a:ext cx="7415803" cy="2336749"/>
            <a:chOff x="0" y="0"/>
            <a:chExt cx="9887737" cy="31156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9875012" cy="3102991"/>
            </a:xfrm>
            <a:custGeom>
              <a:avLst/>
              <a:gdLst/>
              <a:ahLst/>
              <a:cxnLst/>
              <a:rect r="r" b="b" t="t" l="l"/>
              <a:pathLst>
                <a:path h="3102991" w="9875012">
                  <a:moveTo>
                    <a:pt x="0" y="260477"/>
                  </a:moveTo>
                  <a:cubicBezTo>
                    <a:pt x="0" y="116586"/>
                    <a:pt x="116967" y="0"/>
                    <a:pt x="261239" y="0"/>
                  </a:cubicBezTo>
                  <a:lnTo>
                    <a:pt x="9613773" y="0"/>
                  </a:lnTo>
                  <a:cubicBezTo>
                    <a:pt x="9758045" y="0"/>
                    <a:pt x="9875012" y="116586"/>
                    <a:pt x="9875012" y="260477"/>
                  </a:cubicBezTo>
                  <a:lnTo>
                    <a:pt x="9875012" y="2842514"/>
                  </a:lnTo>
                  <a:cubicBezTo>
                    <a:pt x="9875012" y="2986405"/>
                    <a:pt x="9758045" y="3102991"/>
                    <a:pt x="9613773" y="3102991"/>
                  </a:cubicBezTo>
                  <a:lnTo>
                    <a:pt x="261239" y="3102991"/>
                  </a:lnTo>
                  <a:cubicBezTo>
                    <a:pt x="116967" y="3102991"/>
                    <a:pt x="0" y="2986278"/>
                    <a:pt x="0" y="2842514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87712" cy="3115691"/>
            </a:xfrm>
            <a:custGeom>
              <a:avLst/>
              <a:gdLst/>
              <a:ahLst/>
              <a:cxnLst/>
              <a:rect r="r" b="b" t="t" l="l"/>
              <a:pathLst>
                <a:path h="3115691" w="9887712">
                  <a:moveTo>
                    <a:pt x="0" y="266827"/>
                  </a:moveTo>
                  <a:cubicBezTo>
                    <a:pt x="0" y="119507"/>
                    <a:pt x="119761" y="0"/>
                    <a:pt x="267589" y="0"/>
                  </a:cubicBezTo>
                  <a:lnTo>
                    <a:pt x="9620123" y="0"/>
                  </a:lnTo>
                  <a:lnTo>
                    <a:pt x="9620123" y="6350"/>
                  </a:lnTo>
                  <a:lnTo>
                    <a:pt x="9620123" y="0"/>
                  </a:lnTo>
                  <a:cubicBezTo>
                    <a:pt x="9767824" y="0"/>
                    <a:pt x="9887712" y="119507"/>
                    <a:pt x="9887712" y="266827"/>
                  </a:cubicBezTo>
                  <a:lnTo>
                    <a:pt x="9881362" y="266827"/>
                  </a:lnTo>
                  <a:lnTo>
                    <a:pt x="9887712" y="266827"/>
                  </a:lnTo>
                  <a:lnTo>
                    <a:pt x="9887712" y="2848864"/>
                  </a:lnTo>
                  <a:lnTo>
                    <a:pt x="9881362" y="2848864"/>
                  </a:lnTo>
                  <a:lnTo>
                    <a:pt x="9887712" y="2848864"/>
                  </a:lnTo>
                  <a:cubicBezTo>
                    <a:pt x="9887712" y="2996311"/>
                    <a:pt x="9767951" y="3115691"/>
                    <a:pt x="9620123" y="3115691"/>
                  </a:cubicBezTo>
                  <a:lnTo>
                    <a:pt x="9620123" y="3109341"/>
                  </a:lnTo>
                  <a:lnTo>
                    <a:pt x="9620123" y="3115691"/>
                  </a:lnTo>
                  <a:lnTo>
                    <a:pt x="267589" y="3115691"/>
                  </a:lnTo>
                  <a:lnTo>
                    <a:pt x="267589" y="3109341"/>
                  </a:lnTo>
                  <a:lnTo>
                    <a:pt x="267589" y="3115691"/>
                  </a:lnTo>
                  <a:cubicBezTo>
                    <a:pt x="119761" y="3115691"/>
                    <a:pt x="0" y="2996184"/>
                    <a:pt x="0" y="2848864"/>
                  </a:cubicBezTo>
                  <a:lnTo>
                    <a:pt x="0" y="266827"/>
                  </a:lnTo>
                  <a:lnTo>
                    <a:pt x="6350" y="266827"/>
                  </a:lnTo>
                  <a:lnTo>
                    <a:pt x="0" y="266827"/>
                  </a:lnTo>
                  <a:moveTo>
                    <a:pt x="12700" y="266827"/>
                  </a:moveTo>
                  <a:lnTo>
                    <a:pt x="12700" y="2848864"/>
                  </a:lnTo>
                  <a:lnTo>
                    <a:pt x="6350" y="2848864"/>
                  </a:lnTo>
                  <a:lnTo>
                    <a:pt x="12700" y="2848864"/>
                  </a:lnTo>
                  <a:cubicBezTo>
                    <a:pt x="12700" y="2989199"/>
                    <a:pt x="126746" y="3102991"/>
                    <a:pt x="267589" y="3102991"/>
                  </a:cubicBezTo>
                  <a:lnTo>
                    <a:pt x="9620123" y="3102991"/>
                  </a:lnTo>
                  <a:cubicBezTo>
                    <a:pt x="9760966" y="3102991"/>
                    <a:pt x="9875012" y="2989199"/>
                    <a:pt x="9875012" y="2848864"/>
                  </a:cubicBezTo>
                  <a:lnTo>
                    <a:pt x="9875012" y="266827"/>
                  </a:lnTo>
                  <a:cubicBezTo>
                    <a:pt x="9875012" y="126492"/>
                    <a:pt x="9760966" y="12700"/>
                    <a:pt x="9620123" y="12700"/>
                  </a:cubicBezTo>
                  <a:lnTo>
                    <a:pt x="267589" y="12700"/>
                  </a:lnTo>
                  <a:lnTo>
                    <a:pt x="267589" y="6350"/>
                  </a:lnTo>
                  <a:lnTo>
                    <a:pt x="267589" y="12700"/>
                  </a:lnTo>
                  <a:cubicBezTo>
                    <a:pt x="126746" y="12700"/>
                    <a:pt x="12700" y="126492"/>
                    <a:pt x="12700" y="266827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53410" y="7566717"/>
            <a:ext cx="651119" cy="651119"/>
            <a:chOff x="0" y="0"/>
            <a:chExt cx="868159" cy="8681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8172" cy="868172"/>
            </a:xfrm>
            <a:custGeom>
              <a:avLst/>
              <a:gdLst/>
              <a:ahLst/>
              <a:cxnLst/>
              <a:rect r="r" b="b" t="t" l="l"/>
              <a:pathLst>
                <a:path h="868172" w="868172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cubicBezTo>
                    <a:pt x="673862" y="0"/>
                    <a:pt x="868172" y="194310"/>
                    <a:pt x="868172" y="434086"/>
                  </a:cubicBezTo>
                  <a:cubicBezTo>
                    <a:pt x="868172" y="673862"/>
                    <a:pt x="673862" y="868172"/>
                    <a:pt x="434086" y="868172"/>
                  </a:cubicBezTo>
                  <a:cubicBezTo>
                    <a:pt x="194310" y="868172"/>
                    <a:pt x="0" y="673862"/>
                    <a:pt x="0" y="434086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32452" y="7745759"/>
            <a:ext cx="293046" cy="293046"/>
          </a:xfrm>
          <a:custGeom>
            <a:avLst/>
            <a:gdLst/>
            <a:ahLst/>
            <a:cxnLst/>
            <a:rect r="r" b="b" t="t" l="l"/>
            <a:pathLst>
              <a:path h="293046" w="293046">
                <a:moveTo>
                  <a:pt x="0" y="0"/>
                </a:moveTo>
                <a:lnTo>
                  <a:pt x="293046" y="0"/>
                </a:lnTo>
                <a:lnTo>
                  <a:pt x="293046" y="293046"/>
                </a:lnTo>
                <a:lnTo>
                  <a:pt x="0" y="2930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4516" r="0" b="-14516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1330408">
            <a:off x="6807191" y="3425357"/>
            <a:ext cx="479626" cy="683697"/>
          </a:xfrm>
          <a:custGeom>
            <a:avLst/>
            <a:gdLst/>
            <a:ahLst/>
            <a:cxnLst/>
            <a:rect r="r" b="b" t="t" l="l"/>
            <a:pathLst>
              <a:path h="683697" w="479626">
                <a:moveTo>
                  <a:pt x="0" y="0"/>
                </a:moveTo>
                <a:lnTo>
                  <a:pt x="479626" y="0"/>
                </a:lnTo>
                <a:lnTo>
                  <a:pt x="479626" y="683696"/>
                </a:lnTo>
                <a:lnTo>
                  <a:pt x="0" y="6836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4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71756" r="-174709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357741" y="3835349"/>
            <a:ext cx="7665601" cy="65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Why the Newsvendor Model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64932" y="4314825"/>
            <a:ext cx="233516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312">
                <a:solidFill>
                  <a:srgbClr val="006747"/>
                </a:solidFill>
                <a:latin typeface="Arimo"/>
                <a:ea typeface="Arimo"/>
                <a:cs typeface="Arimo"/>
                <a:sym typeface="Arimo"/>
              </a:rPr>
              <a:t>PERFECT FIT CONDITIONS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81188" y="5876030"/>
            <a:ext cx="3133430" cy="34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Single-Period Decision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81188" y="6276680"/>
            <a:ext cx="6953098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Stock must be ordered before demand is realized; no mid-day replenishment.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53410" y="5876030"/>
            <a:ext cx="2713434" cy="34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Asymmetric Costs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53410" y="6276680"/>
            <a:ext cx="6953250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The financial penalty for having one too many (</a:t>
            </a:r>
            <a:r>
              <a:rPr lang="en-US" sz="16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c_o</a:t>
            </a:r>
            <a:r>
              <a:rPr lang="en-US" sz="16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) differs from having one too few (</a:t>
            </a:r>
            <a:r>
              <a:rPr lang="en-US" sz="16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c  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81188" y="8374409"/>
            <a:ext cx="2886370" cy="34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Demand Uncertainty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81188" y="8775059"/>
            <a:ext cx="6953098" cy="66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Demand is a random variable </a:t>
            </a:r>
            <a:r>
              <a:rPr lang="en-US" sz="16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D</a:t>
            </a:r>
            <a:r>
              <a:rPr lang="en-US" sz="16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dependent on stochastic weather patterns.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53410" y="8374409"/>
            <a:ext cx="3899144" cy="34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Perishability of Opportunity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53410" y="8775059"/>
            <a:ext cx="6953250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While the product is durable, the high-demand window (rainy hours) is highly perishable.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791077" y="6666591"/>
            <a:ext cx="173165" cy="24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2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u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986707" y="3018234"/>
            <a:ext cx="823421" cy="1237507"/>
          </a:xfrm>
          <a:custGeom>
            <a:avLst/>
            <a:gdLst/>
            <a:ahLst/>
            <a:cxnLst/>
            <a:rect r="r" b="b" t="t" l="l"/>
            <a:pathLst>
              <a:path h="1237507" w="823421">
                <a:moveTo>
                  <a:pt x="0" y="0"/>
                </a:moveTo>
                <a:lnTo>
                  <a:pt x="823420" y="0"/>
                </a:lnTo>
                <a:lnTo>
                  <a:pt x="823420" y="1237507"/>
                </a:lnTo>
                <a:lnTo>
                  <a:pt x="0" y="12375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45399" t="-45528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-1873257">
            <a:off x="8280693" y="2812979"/>
            <a:ext cx="823421" cy="1237507"/>
          </a:xfrm>
          <a:custGeom>
            <a:avLst/>
            <a:gdLst/>
            <a:ahLst/>
            <a:cxnLst/>
            <a:rect r="r" b="b" t="t" l="l"/>
            <a:pathLst>
              <a:path h="1237507" w="823421">
                <a:moveTo>
                  <a:pt x="0" y="0"/>
                </a:moveTo>
                <a:lnTo>
                  <a:pt x="823420" y="0"/>
                </a:lnTo>
                <a:lnTo>
                  <a:pt x="823420" y="1237507"/>
                </a:lnTo>
                <a:lnTo>
                  <a:pt x="0" y="12375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45399" t="-45528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3762" y="1559626"/>
            <a:ext cx="3833365" cy="1125381"/>
            <a:chOff x="0" y="0"/>
            <a:chExt cx="1840574" cy="540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0542" cy="540258"/>
            </a:xfrm>
            <a:custGeom>
              <a:avLst/>
              <a:gdLst/>
              <a:ahLst/>
              <a:cxnLst/>
              <a:rect r="r" b="b" t="t" l="l"/>
              <a:pathLst>
                <a:path h="540258" w="1840542">
                  <a:moveTo>
                    <a:pt x="0" y="221107"/>
                  </a:moveTo>
                  <a:cubicBezTo>
                    <a:pt x="0" y="99060"/>
                    <a:pt x="40697" y="0"/>
                    <a:pt x="90838" y="0"/>
                  </a:cubicBezTo>
                  <a:lnTo>
                    <a:pt x="1749705" y="0"/>
                  </a:lnTo>
                  <a:cubicBezTo>
                    <a:pt x="1799898" y="0"/>
                    <a:pt x="1840542" y="99060"/>
                    <a:pt x="1840542" y="221107"/>
                  </a:cubicBezTo>
                  <a:lnTo>
                    <a:pt x="1840542" y="319151"/>
                  </a:lnTo>
                  <a:cubicBezTo>
                    <a:pt x="1840542" y="441325"/>
                    <a:pt x="1799845" y="540258"/>
                    <a:pt x="1749705" y="540258"/>
                  </a:cubicBezTo>
                  <a:lnTo>
                    <a:pt x="90838" y="540258"/>
                  </a:lnTo>
                  <a:cubicBezTo>
                    <a:pt x="40697" y="540385"/>
                    <a:pt x="0" y="441325"/>
                    <a:pt x="0" y="319151"/>
                  </a:cubicBezTo>
                  <a:lnTo>
                    <a:pt x="0" y="221107"/>
                  </a:lnTo>
                  <a:close/>
                </a:path>
              </a:pathLst>
            </a:custGeom>
            <a:solidFill>
              <a:srgbClr val="CCFFE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29598" y="3146374"/>
            <a:ext cx="7676255" cy="3368878"/>
            <a:chOff x="0" y="0"/>
            <a:chExt cx="10235006" cy="4491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34930" cy="4491863"/>
            </a:xfrm>
            <a:custGeom>
              <a:avLst/>
              <a:gdLst/>
              <a:ahLst/>
              <a:cxnLst/>
              <a:rect r="r" b="b" t="t" l="l"/>
              <a:pathLst>
                <a:path h="4491863" w="10234930">
                  <a:moveTo>
                    <a:pt x="0" y="282829"/>
                  </a:moveTo>
                  <a:cubicBezTo>
                    <a:pt x="0" y="126619"/>
                    <a:pt x="126873" y="0"/>
                    <a:pt x="283210" y="0"/>
                  </a:cubicBezTo>
                  <a:lnTo>
                    <a:pt x="9951720" y="0"/>
                  </a:lnTo>
                  <a:lnTo>
                    <a:pt x="9951720" y="6350"/>
                  </a:lnTo>
                  <a:lnTo>
                    <a:pt x="9951720" y="0"/>
                  </a:lnTo>
                  <a:cubicBezTo>
                    <a:pt x="10108184" y="0"/>
                    <a:pt x="10234930" y="126619"/>
                    <a:pt x="10234930" y="282829"/>
                  </a:cubicBezTo>
                  <a:lnTo>
                    <a:pt x="10228580" y="282829"/>
                  </a:lnTo>
                  <a:lnTo>
                    <a:pt x="10234930" y="282829"/>
                  </a:lnTo>
                  <a:lnTo>
                    <a:pt x="10234930" y="4209034"/>
                  </a:lnTo>
                  <a:lnTo>
                    <a:pt x="10228580" y="4209034"/>
                  </a:lnTo>
                  <a:lnTo>
                    <a:pt x="10234930" y="4209034"/>
                  </a:lnTo>
                  <a:cubicBezTo>
                    <a:pt x="10234930" y="4365244"/>
                    <a:pt x="10108057" y="4491863"/>
                    <a:pt x="9951720" y="4491863"/>
                  </a:cubicBezTo>
                  <a:lnTo>
                    <a:pt x="9951720" y="4485513"/>
                  </a:lnTo>
                  <a:lnTo>
                    <a:pt x="9951720" y="4491863"/>
                  </a:lnTo>
                  <a:lnTo>
                    <a:pt x="283210" y="4491863"/>
                  </a:lnTo>
                  <a:lnTo>
                    <a:pt x="283210" y="4485513"/>
                  </a:lnTo>
                  <a:lnTo>
                    <a:pt x="283210" y="4491863"/>
                  </a:lnTo>
                  <a:cubicBezTo>
                    <a:pt x="126873" y="4491863"/>
                    <a:pt x="0" y="4365244"/>
                    <a:pt x="0" y="4209034"/>
                  </a:cubicBezTo>
                  <a:lnTo>
                    <a:pt x="0" y="282829"/>
                  </a:lnTo>
                  <a:lnTo>
                    <a:pt x="6350" y="282829"/>
                  </a:lnTo>
                  <a:lnTo>
                    <a:pt x="0" y="282829"/>
                  </a:lnTo>
                  <a:moveTo>
                    <a:pt x="12700" y="282829"/>
                  </a:moveTo>
                  <a:lnTo>
                    <a:pt x="12700" y="4209034"/>
                  </a:lnTo>
                  <a:lnTo>
                    <a:pt x="6350" y="4209034"/>
                  </a:lnTo>
                  <a:lnTo>
                    <a:pt x="12700" y="4209034"/>
                  </a:lnTo>
                  <a:cubicBezTo>
                    <a:pt x="12700" y="4358259"/>
                    <a:pt x="133858" y="4479163"/>
                    <a:pt x="283210" y="4479163"/>
                  </a:cubicBezTo>
                  <a:lnTo>
                    <a:pt x="9951720" y="4479163"/>
                  </a:lnTo>
                  <a:cubicBezTo>
                    <a:pt x="10101199" y="4479163"/>
                    <a:pt x="10222230" y="4358259"/>
                    <a:pt x="10222230" y="4209034"/>
                  </a:cubicBezTo>
                  <a:lnTo>
                    <a:pt x="10222230" y="282829"/>
                  </a:lnTo>
                  <a:cubicBezTo>
                    <a:pt x="10222357" y="133604"/>
                    <a:pt x="10101199" y="12700"/>
                    <a:pt x="9951720" y="12700"/>
                  </a:cubicBezTo>
                  <a:lnTo>
                    <a:pt x="283210" y="12700"/>
                  </a:lnTo>
                  <a:lnTo>
                    <a:pt x="283210" y="6350"/>
                  </a:lnTo>
                  <a:lnTo>
                    <a:pt x="283210" y="12700"/>
                  </a:lnTo>
                  <a:cubicBezTo>
                    <a:pt x="133858" y="12700"/>
                    <a:pt x="12700" y="133604"/>
                    <a:pt x="12700" y="28282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420073" y="7276948"/>
            <a:ext cx="3768328" cy="2130028"/>
            <a:chOff x="0" y="0"/>
            <a:chExt cx="5024438" cy="2840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4986401" cy="2801874"/>
            </a:xfrm>
            <a:custGeom>
              <a:avLst/>
              <a:gdLst/>
              <a:ahLst/>
              <a:cxnLst/>
              <a:rect r="r" b="b" t="t" l="l"/>
              <a:pathLst>
                <a:path h="2801874" w="4986401">
                  <a:moveTo>
                    <a:pt x="0" y="182880"/>
                  </a:moveTo>
                  <a:cubicBezTo>
                    <a:pt x="0" y="81915"/>
                    <a:pt x="82423" y="0"/>
                    <a:pt x="184023" y="0"/>
                  </a:cubicBezTo>
                  <a:lnTo>
                    <a:pt x="4802378" y="0"/>
                  </a:lnTo>
                  <a:cubicBezTo>
                    <a:pt x="4903978" y="0"/>
                    <a:pt x="4986401" y="81915"/>
                    <a:pt x="4986401" y="182880"/>
                  </a:cubicBezTo>
                  <a:lnTo>
                    <a:pt x="4986401" y="2618994"/>
                  </a:lnTo>
                  <a:cubicBezTo>
                    <a:pt x="4986401" y="2719959"/>
                    <a:pt x="4903978" y="2801874"/>
                    <a:pt x="4802378" y="2801874"/>
                  </a:cubicBezTo>
                  <a:lnTo>
                    <a:pt x="184023" y="2801874"/>
                  </a:lnTo>
                  <a:cubicBezTo>
                    <a:pt x="82423" y="2801874"/>
                    <a:pt x="0" y="2719959"/>
                    <a:pt x="0" y="2618994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24501" cy="2839974"/>
            </a:xfrm>
            <a:custGeom>
              <a:avLst/>
              <a:gdLst/>
              <a:ahLst/>
              <a:cxnLst/>
              <a:rect r="r" b="b" t="t" l="l"/>
              <a:pathLst>
                <a:path h="2839974" w="5024501">
                  <a:moveTo>
                    <a:pt x="0" y="201930"/>
                  </a:moveTo>
                  <a:cubicBezTo>
                    <a:pt x="0" y="90297"/>
                    <a:pt x="91059" y="0"/>
                    <a:pt x="203073" y="0"/>
                  </a:cubicBezTo>
                  <a:lnTo>
                    <a:pt x="4821428" y="0"/>
                  </a:lnTo>
                  <a:lnTo>
                    <a:pt x="4821428" y="19050"/>
                  </a:lnTo>
                  <a:lnTo>
                    <a:pt x="4821428" y="0"/>
                  </a:lnTo>
                  <a:cubicBezTo>
                    <a:pt x="4933442" y="0"/>
                    <a:pt x="5024501" y="90297"/>
                    <a:pt x="5024501" y="201930"/>
                  </a:cubicBezTo>
                  <a:lnTo>
                    <a:pt x="5005451" y="201930"/>
                  </a:lnTo>
                  <a:lnTo>
                    <a:pt x="5024501" y="201930"/>
                  </a:lnTo>
                  <a:lnTo>
                    <a:pt x="5024501" y="2638044"/>
                  </a:lnTo>
                  <a:lnTo>
                    <a:pt x="5005451" y="2638044"/>
                  </a:lnTo>
                  <a:lnTo>
                    <a:pt x="5024501" y="2638044"/>
                  </a:lnTo>
                  <a:cubicBezTo>
                    <a:pt x="5024501" y="2749677"/>
                    <a:pt x="4933442" y="2839974"/>
                    <a:pt x="4821428" y="2839974"/>
                  </a:cubicBezTo>
                  <a:lnTo>
                    <a:pt x="4821428" y="2820924"/>
                  </a:lnTo>
                  <a:lnTo>
                    <a:pt x="4821428" y="2839974"/>
                  </a:lnTo>
                  <a:lnTo>
                    <a:pt x="203073" y="2839974"/>
                  </a:lnTo>
                  <a:lnTo>
                    <a:pt x="203073" y="2820924"/>
                  </a:lnTo>
                  <a:lnTo>
                    <a:pt x="203073" y="2839974"/>
                  </a:lnTo>
                  <a:cubicBezTo>
                    <a:pt x="91059" y="2840101"/>
                    <a:pt x="0" y="2749677"/>
                    <a:pt x="0" y="263804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638044"/>
                  </a:lnTo>
                  <a:lnTo>
                    <a:pt x="19050" y="2638044"/>
                  </a:lnTo>
                  <a:lnTo>
                    <a:pt x="38100" y="2638044"/>
                  </a:lnTo>
                  <a:cubicBezTo>
                    <a:pt x="38100" y="2728468"/>
                    <a:pt x="111887" y="2801874"/>
                    <a:pt x="203073" y="2801874"/>
                  </a:cubicBezTo>
                  <a:lnTo>
                    <a:pt x="4821428" y="2801874"/>
                  </a:lnTo>
                  <a:cubicBezTo>
                    <a:pt x="4912614" y="2801874"/>
                    <a:pt x="4986401" y="2728468"/>
                    <a:pt x="4986401" y="2638044"/>
                  </a:cubicBezTo>
                  <a:lnTo>
                    <a:pt x="4986401" y="201930"/>
                  </a:lnTo>
                  <a:cubicBezTo>
                    <a:pt x="4986401" y="111506"/>
                    <a:pt x="4912614" y="38100"/>
                    <a:pt x="4821428" y="38100"/>
                  </a:cubicBezTo>
                  <a:lnTo>
                    <a:pt x="203073" y="38100"/>
                  </a:lnTo>
                  <a:lnTo>
                    <a:pt x="203073" y="19050"/>
                  </a:lnTo>
                  <a:lnTo>
                    <a:pt x="203073" y="38100"/>
                  </a:lnTo>
                  <a:cubicBezTo>
                    <a:pt x="111887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05785" y="7291235"/>
            <a:ext cx="114300" cy="2101453"/>
            <a:chOff x="0" y="0"/>
            <a:chExt cx="152400" cy="28019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2802001"/>
            </a:xfrm>
            <a:custGeom>
              <a:avLst/>
              <a:gdLst/>
              <a:ahLst/>
              <a:cxnLst/>
              <a:rect r="r" b="b" t="t" l="l"/>
              <a:pathLst>
                <a:path h="280200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725801"/>
                  </a:lnTo>
                  <a:cubicBezTo>
                    <a:pt x="152400" y="2767838"/>
                    <a:pt x="118237" y="2802001"/>
                    <a:pt x="76200" y="2802001"/>
                  </a:cubicBezTo>
                  <a:cubicBezTo>
                    <a:pt x="34163" y="2802001"/>
                    <a:pt x="0" y="2767838"/>
                    <a:pt x="0" y="2725801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346906" y="7276948"/>
            <a:ext cx="3768481" cy="2130028"/>
            <a:chOff x="0" y="0"/>
            <a:chExt cx="5024641" cy="28400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4986655" cy="2801874"/>
            </a:xfrm>
            <a:custGeom>
              <a:avLst/>
              <a:gdLst/>
              <a:ahLst/>
              <a:cxnLst/>
              <a:rect r="r" b="b" t="t" l="l"/>
              <a:pathLst>
                <a:path h="2801874" w="4986655">
                  <a:moveTo>
                    <a:pt x="0" y="182880"/>
                  </a:moveTo>
                  <a:cubicBezTo>
                    <a:pt x="0" y="81915"/>
                    <a:pt x="82423" y="0"/>
                    <a:pt x="184023" y="0"/>
                  </a:cubicBezTo>
                  <a:lnTo>
                    <a:pt x="4802632" y="0"/>
                  </a:lnTo>
                  <a:cubicBezTo>
                    <a:pt x="4904232" y="0"/>
                    <a:pt x="4986655" y="81915"/>
                    <a:pt x="4986655" y="182880"/>
                  </a:cubicBezTo>
                  <a:lnTo>
                    <a:pt x="4986655" y="2618994"/>
                  </a:lnTo>
                  <a:cubicBezTo>
                    <a:pt x="4986655" y="2719959"/>
                    <a:pt x="4904232" y="2801874"/>
                    <a:pt x="4802632" y="2801874"/>
                  </a:cubicBezTo>
                  <a:lnTo>
                    <a:pt x="184023" y="2801874"/>
                  </a:lnTo>
                  <a:cubicBezTo>
                    <a:pt x="82423" y="2801874"/>
                    <a:pt x="0" y="2719959"/>
                    <a:pt x="0" y="2618994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24755" cy="2839974"/>
            </a:xfrm>
            <a:custGeom>
              <a:avLst/>
              <a:gdLst/>
              <a:ahLst/>
              <a:cxnLst/>
              <a:rect r="r" b="b" t="t" l="l"/>
              <a:pathLst>
                <a:path h="2839974" w="5024755">
                  <a:moveTo>
                    <a:pt x="0" y="201930"/>
                  </a:moveTo>
                  <a:cubicBezTo>
                    <a:pt x="0" y="90297"/>
                    <a:pt x="91059" y="0"/>
                    <a:pt x="203073" y="0"/>
                  </a:cubicBezTo>
                  <a:lnTo>
                    <a:pt x="4821682" y="0"/>
                  </a:lnTo>
                  <a:lnTo>
                    <a:pt x="4821682" y="19050"/>
                  </a:lnTo>
                  <a:lnTo>
                    <a:pt x="4821682" y="0"/>
                  </a:lnTo>
                  <a:cubicBezTo>
                    <a:pt x="4933696" y="0"/>
                    <a:pt x="5024755" y="90297"/>
                    <a:pt x="5024755" y="201930"/>
                  </a:cubicBezTo>
                  <a:lnTo>
                    <a:pt x="5005705" y="201930"/>
                  </a:lnTo>
                  <a:lnTo>
                    <a:pt x="5024755" y="201930"/>
                  </a:lnTo>
                  <a:lnTo>
                    <a:pt x="5024755" y="2638044"/>
                  </a:lnTo>
                  <a:lnTo>
                    <a:pt x="5005705" y="2638044"/>
                  </a:lnTo>
                  <a:lnTo>
                    <a:pt x="5024755" y="2638044"/>
                  </a:lnTo>
                  <a:cubicBezTo>
                    <a:pt x="5024755" y="2749677"/>
                    <a:pt x="4933696" y="2839974"/>
                    <a:pt x="4821682" y="2839974"/>
                  </a:cubicBezTo>
                  <a:lnTo>
                    <a:pt x="4821682" y="2820924"/>
                  </a:lnTo>
                  <a:lnTo>
                    <a:pt x="4821682" y="2839974"/>
                  </a:lnTo>
                  <a:lnTo>
                    <a:pt x="203073" y="2839974"/>
                  </a:lnTo>
                  <a:lnTo>
                    <a:pt x="203073" y="2820924"/>
                  </a:lnTo>
                  <a:lnTo>
                    <a:pt x="203073" y="2839974"/>
                  </a:lnTo>
                  <a:cubicBezTo>
                    <a:pt x="91059" y="2840101"/>
                    <a:pt x="0" y="2749677"/>
                    <a:pt x="0" y="263804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638044"/>
                  </a:lnTo>
                  <a:lnTo>
                    <a:pt x="19050" y="2638044"/>
                  </a:lnTo>
                  <a:lnTo>
                    <a:pt x="38100" y="2638044"/>
                  </a:lnTo>
                  <a:cubicBezTo>
                    <a:pt x="38100" y="2728468"/>
                    <a:pt x="111887" y="2801874"/>
                    <a:pt x="203073" y="2801874"/>
                  </a:cubicBezTo>
                  <a:lnTo>
                    <a:pt x="4821682" y="2801874"/>
                  </a:lnTo>
                  <a:cubicBezTo>
                    <a:pt x="4912868" y="2801874"/>
                    <a:pt x="4986655" y="2728468"/>
                    <a:pt x="4986655" y="2638044"/>
                  </a:cubicBezTo>
                  <a:lnTo>
                    <a:pt x="4986655" y="201930"/>
                  </a:lnTo>
                  <a:cubicBezTo>
                    <a:pt x="4986655" y="111506"/>
                    <a:pt x="4912868" y="38100"/>
                    <a:pt x="4821682" y="38100"/>
                  </a:cubicBezTo>
                  <a:lnTo>
                    <a:pt x="203073" y="38100"/>
                  </a:lnTo>
                  <a:lnTo>
                    <a:pt x="203073" y="19050"/>
                  </a:lnTo>
                  <a:lnTo>
                    <a:pt x="203073" y="38100"/>
                  </a:lnTo>
                  <a:cubicBezTo>
                    <a:pt x="111887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32619" y="7291235"/>
            <a:ext cx="114300" cy="2101453"/>
            <a:chOff x="0" y="0"/>
            <a:chExt cx="152400" cy="28019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2802001"/>
            </a:xfrm>
            <a:custGeom>
              <a:avLst/>
              <a:gdLst/>
              <a:ahLst/>
              <a:cxnLst/>
              <a:rect r="r" b="b" t="t" l="l"/>
              <a:pathLst>
                <a:path h="280200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725801"/>
                  </a:lnTo>
                  <a:cubicBezTo>
                    <a:pt x="152400" y="2767838"/>
                    <a:pt x="118237" y="2802001"/>
                    <a:pt x="76200" y="2802001"/>
                  </a:cubicBezTo>
                  <a:cubicBezTo>
                    <a:pt x="34163" y="2802001"/>
                    <a:pt x="0" y="2767838"/>
                    <a:pt x="0" y="2725801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2018907" y="76352"/>
            <a:ext cx="3373650" cy="3070022"/>
          </a:xfrm>
          <a:custGeom>
            <a:avLst/>
            <a:gdLst/>
            <a:ahLst/>
            <a:cxnLst/>
            <a:rect r="r" b="b" t="t" l="l"/>
            <a:pathLst>
              <a:path h="3070022" w="3373650">
                <a:moveTo>
                  <a:pt x="0" y="0"/>
                </a:moveTo>
                <a:lnTo>
                  <a:pt x="3373650" y="0"/>
                </a:lnTo>
                <a:lnTo>
                  <a:pt x="3373650" y="3070022"/>
                </a:lnTo>
                <a:lnTo>
                  <a:pt x="0" y="3070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228614" y="3225251"/>
            <a:ext cx="2078536" cy="3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212" b="true">
                <a:solidFill>
                  <a:srgbClr val="4B4A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Value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28614" y="3802704"/>
            <a:ext cx="2078536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₹150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28614" y="4723657"/>
            <a:ext cx="2078536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₹80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28614" y="5644601"/>
            <a:ext cx="2078536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₹30</a:t>
            </a:r>
          </a:p>
        </p:txBody>
      </p:sp>
      <p:sp>
        <p:nvSpPr>
          <p:cNvPr name="AutoShape 25" id="25"/>
          <p:cNvSpPr/>
          <p:nvPr/>
        </p:nvSpPr>
        <p:spPr>
          <a:xfrm flipV="true">
            <a:off x="11888760" y="3146374"/>
            <a:ext cx="0" cy="3365002"/>
          </a:xfrm>
          <a:prstGeom prst="line">
            <a:avLst/>
          </a:prstGeom>
          <a:ln cap="flat" w="38100">
            <a:solidFill>
              <a:srgbClr val="000000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4112030" y="3146374"/>
            <a:ext cx="0" cy="3365002"/>
          </a:xfrm>
          <a:prstGeom prst="line">
            <a:avLst/>
          </a:prstGeom>
          <a:ln cap="flat" w="38100">
            <a:solidFill>
              <a:srgbClr val="000000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9434360" y="3742873"/>
            <a:ext cx="7613244" cy="0"/>
          </a:xfrm>
          <a:prstGeom prst="line">
            <a:avLst/>
          </a:prstGeom>
          <a:ln cap="flat" w="38100">
            <a:solidFill>
              <a:srgbClr val="000000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196130" y="664816"/>
            <a:ext cx="651795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true">
                <a:solidFill>
                  <a:srgbClr val="006747"/>
                </a:solidFill>
                <a:latin typeface="Oswald Bold"/>
                <a:ea typeface="Oswald Bold"/>
                <a:cs typeface="Oswald Bold"/>
                <a:sym typeface="Oswald Bold"/>
              </a:rPr>
              <a:t>Notation &amp; Parameter Costs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9024" y="1628682"/>
            <a:ext cx="4183467" cy="87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37" b="true">
                <a:solidFill>
                  <a:srgbClr val="4B4A4A"/>
                </a:solidFill>
                <a:latin typeface="Roboto Bold"/>
                <a:ea typeface="Roboto Bold"/>
                <a:cs typeface="Roboto Bold"/>
                <a:sym typeface="Roboto Bold"/>
              </a:rPr>
              <a:t>THE ECONOMICS OF AN UMBRELLA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62935" y="2534043"/>
            <a:ext cx="2879522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Core Parameters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75314" y="3225251"/>
            <a:ext cx="2083298" cy="3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212" b="true">
                <a:solidFill>
                  <a:srgbClr val="4B4A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Parameter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777142" y="3225251"/>
            <a:ext cx="2083298" cy="3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212" b="true">
                <a:solidFill>
                  <a:srgbClr val="4B4A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Meaning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75314" y="3802704"/>
            <a:ext cx="2083298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p</a:t>
            </a: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(Selling Price)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777142" y="3802704"/>
            <a:ext cx="2083298" cy="73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Revenue per unit sold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75314" y="4723657"/>
            <a:ext cx="2083298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c</a:t>
            </a: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(Wholesale Cost)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77142" y="4723657"/>
            <a:ext cx="2083298" cy="73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Cost per unit ordered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75314" y="5644601"/>
            <a:ext cx="2083298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s</a:t>
            </a: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(Salvage Value)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77142" y="5644601"/>
            <a:ext cx="2083298" cy="73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Recovery per unsold unit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84201" y="6706643"/>
            <a:ext cx="3036989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Derived Cost Metrics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78898" y="7540523"/>
            <a:ext cx="3043980" cy="70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Cost of Underage (</a:t>
            </a:r>
            <a:r>
              <a:rPr lang="en-US" b="true" sz="2249" i="true">
                <a:solidFill>
                  <a:srgbClr val="4B4A4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c_u</a:t>
            </a: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16095" y="8173936"/>
            <a:ext cx="3136402" cy="106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p - c = ₹70</a:t>
            </a: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— Profit lost per unit not sold when demand exceeds supply.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05732" y="7540523"/>
            <a:ext cx="2879522" cy="4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Cost of Overage (</a:t>
            </a:r>
            <a:r>
              <a:rPr lang="en-US" b="true" sz="2249" i="true">
                <a:solidFill>
                  <a:srgbClr val="4B4A4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c_o</a:t>
            </a: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05732" y="8340923"/>
            <a:ext cx="3136554" cy="73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c - s = ₹50</a:t>
            </a: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— Loss incurred per unsold unit at end of day.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39283" y="2837407"/>
            <a:ext cx="8031651" cy="2731884"/>
            <a:chOff x="0" y="0"/>
            <a:chExt cx="2115312" cy="7195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15312" cy="719525"/>
            </a:xfrm>
            <a:custGeom>
              <a:avLst/>
              <a:gdLst/>
              <a:ahLst/>
              <a:cxnLst/>
              <a:rect r="r" b="b" t="t" l="l"/>
              <a:pathLst>
                <a:path h="719525" w="2115312">
                  <a:moveTo>
                    <a:pt x="2115312" y="60727"/>
                  </a:moveTo>
                  <a:lnTo>
                    <a:pt x="2115312" y="658797"/>
                  </a:lnTo>
                  <a:cubicBezTo>
                    <a:pt x="2115312" y="692336"/>
                    <a:pt x="2088123" y="719525"/>
                    <a:pt x="2054585" y="719525"/>
                  </a:cubicBezTo>
                  <a:lnTo>
                    <a:pt x="60727" y="719525"/>
                  </a:lnTo>
                  <a:cubicBezTo>
                    <a:pt x="27189" y="719525"/>
                    <a:pt x="0" y="692336"/>
                    <a:pt x="0" y="658797"/>
                  </a:cubicBezTo>
                  <a:lnTo>
                    <a:pt x="0" y="60727"/>
                  </a:lnTo>
                  <a:cubicBezTo>
                    <a:pt x="0" y="27189"/>
                    <a:pt x="27189" y="0"/>
                    <a:pt x="60727" y="0"/>
                  </a:cubicBezTo>
                  <a:lnTo>
                    <a:pt x="2054585" y="0"/>
                  </a:lnTo>
                  <a:cubicBezTo>
                    <a:pt x="2088123" y="0"/>
                    <a:pt x="2115312" y="27189"/>
                    <a:pt x="2115312" y="60727"/>
                  </a:cubicBezTo>
                  <a:close/>
                </a:path>
              </a:pathLst>
            </a:custGeom>
            <a:solidFill>
              <a:srgbClr val="E5F9F2">
                <a:alpha val="9804"/>
              </a:srgbClr>
            </a:solidFill>
            <a:ln w="85725" cap="rnd">
              <a:solidFill>
                <a:srgbClr val="00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2115312" cy="78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 flipH="true" flipV="true">
            <a:off x="2029831" y="2837407"/>
            <a:ext cx="0" cy="2731884"/>
          </a:xfrm>
          <a:prstGeom prst="line">
            <a:avLst/>
          </a:prstGeom>
          <a:ln cap="flat" w="38100">
            <a:solidFill>
              <a:srgbClr val="000000">
                <a:alpha val="4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490566" y="3452955"/>
            <a:ext cx="7980369" cy="0"/>
          </a:xfrm>
          <a:prstGeom prst="line">
            <a:avLst/>
          </a:prstGeom>
          <a:ln cap="flat" w="38100">
            <a:solidFill>
              <a:srgbClr val="000000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3380251" y="2951707"/>
            <a:ext cx="3470715" cy="3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4"/>
              </a:lnSpc>
            </a:pPr>
            <a:r>
              <a:rPr lang="en-US" sz="2212" b="true">
                <a:solidFill>
                  <a:srgbClr val="4B4A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Meaning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63948" y="2946890"/>
            <a:ext cx="1132533" cy="3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212" b="true">
                <a:solidFill>
                  <a:srgbClr val="4B4A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Symbol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9662" y="3562180"/>
            <a:ext cx="561104" cy="5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Q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49662" y="4182805"/>
            <a:ext cx="561104" cy="5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9662" y="4803430"/>
            <a:ext cx="561104" cy="5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Q*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175911" y="3501490"/>
            <a:ext cx="587939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Order quantity,in units. This is the</a:t>
            </a: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 decision variable we optimize.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175911" y="4161677"/>
            <a:ext cx="587939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Daily demand,a random</a:t>
            </a: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 variable. Its distribution is estimated from IMD rainfall data.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147336" y="4812340"/>
            <a:ext cx="587939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The optimal stocking quantity that minimizes expected cost.</a:t>
            </a:r>
          </a:p>
        </p:txBody>
      </p:sp>
      <p:sp>
        <p:nvSpPr>
          <p:cNvPr name="AutoShape 57" id="57"/>
          <p:cNvSpPr/>
          <p:nvPr/>
        </p:nvSpPr>
        <p:spPr>
          <a:xfrm flipV="true">
            <a:off x="439329" y="4178356"/>
            <a:ext cx="7980242" cy="19050"/>
          </a:xfrm>
          <a:prstGeom prst="line">
            <a:avLst/>
          </a:prstGeom>
          <a:ln cap="flat" w="19050">
            <a:solidFill>
              <a:srgbClr val="000000">
                <a:alpha val="14902"/>
              </a:srgbClr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V="true">
            <a:off x="480996" y="4853583"/>
            <a:ext cx="7980242" cy="19050"/>
          </a:xfrm>
          <a:prstGeom prst="line">
            <a:avLst/>
          </a:prstGeom>
          <a:ln cap="flat" w="19050">
            <a:solidFill>
              <a:srgbClr val="000000">
                <a:alpha val="14902"/>
              </a:srgbClr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277633" y="5721654"/>
            <a:ext cx="8888500" cy="4087131"/>
            <a:chOff x="0" y="0"/>
            <a:chExt cx="11851333" cy="5449508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50"/>
              <a:ext cx="11851333" cy="5449409"/>
              <a:chOff x="0" y="0"/>
              <a:chExt cx="2340982" cy="107645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340982" cy="1076450"/>
              </a:xfrm>
              <a:custGeom>
                <a:avLst/>
                <a:gdLst/>
                <a:ahLst/>
                <a:cxnLst/>
                <a:rect r="r" b="b" t="t" l="l"/>
                <a:pathLst>
                  <a:path h="1076450" w="2340982">
                    <a:moveTo>
                      <a:pt x="2340982" y="54873"/>
                    </a:moveTo>
                    <a:lnTo>
                      <a:pt x="2340982" y="1021577"/>
                    </a:lnTo>
                    <a:cubicBezTo>
                      <a:pt x="2340982" y="1036130"/>
                      <a:pt x="2335200" y="1050088"/>
                      <a:pt x="2324910" y="1060378"/>
                    </a:cubicBezTo>
                    <a:cubicBezTo>
                      <a:pt x="2314619" y="1070669"/>
                      <a:pt x="2300662" y="1076450"/>
                      <a:pt x="2286109" y="1076450"/>
                    </a:cubicBezTo>
                    <a:lnTo>
                      <a:pt x="54873" y="1076450"/>
                    </a:lnTo>
                    <a:cubicBezTo>
                      <a:pt x="40320" y="1076450"/>
                      <a:pt x="26363" y="1070669"/>
                      <a:pt x="16072" y="1060378"/>
                    </a:cubicBezTo>
                    <a:cubicBezTo>
                      <a:pt x="5781" y="1050088"/>
                      <a:pt x="0" y="1036130"/>
                      <a:pt x="0" y="1021577"/>
                    </a:cubicBezTo>
                    <a:lnTo>
                      <a:pt x="0" y="54873"/>
                    </a:lnTo>
                    <a:cubicBezTo>
                      <a:pt x="0" y="40320"/>
                      <a:pt x="5781" y="26363"/>
                      <a:pt x="16072" y="16072"/>
                    </a:cubicBezTo>
                    <a:cubicBezTo>
                      <a:pt x="26363" y="5781"/>
                      <a:pt x="40320" y="0"/>
                      <a:pt x="54873" y="0"/>
                    </a:cubicBezTo>
                    <a:lnTo>
                      <a:pt x="2286109" y="0"/>
                    </a:lnTo>
                    <a:cubicBezTo>
                      <a:pt x="2300662" y="0"/>
                      <a:pt x="2314619" y="5781"/>
                      <a:pt x="2324910" y="16072"/>
                    </a:cubicBezTo>
                    <a:cubicBezTo>
                      <a:pt x="2335200" y="26363"/>
                      <a:pt x="2340982" y="40320"/>
                      <a:pt x="2340982" y="54873"/>
                    </a:cubicBezTo>
                    <a:close/>
                  </a:path>
                </a:pathLst>
              </a:custGeom>
              <a:solidFill>
                <a:srgbClr val="E5F9F2">
                  <a:alpha val="9804"/>
                </a:srgbClr>
              </a:solidFill>
              <a:ln w="85725" cap="rnd">
                <a:solidFill>
                  <a:srgbClr val="000000">
                    <a:alpha val="9804"/>
                  </a:srgbClr>
                </a:solidFill>
                <a:prstDash val="solid"/>
                <a:round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66675"/>
                <a:ext cx="2340982" cy="1143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25"/>
                  </a:lnSpc>
                </a:pPr>
              </a:p>
            </p:txBody>
          </p:sp>
        </p:grpSp>
        <p:sp>
          <p:nvSpPr>
            <p:cNvPr name="AutoShape 63" id="63"/>
            <p:cNvSpPr/>
            <p:nvPr/>
          </p:nvSpPr>
          <p:spPr>
            <a:xfrm flipV="true">
              <a:off x="2336264" y="50"/>
              <a:ext cx="10714" cy="5449409"/>
            </a:xfrm>
            <a:prstGeom prst="line">
              <a:avLst/>
            </a:prstGeom>
            <a:ln cap="flat" w="50800">
              <a:solidFill>
                <a:srgbClr val="000000">
                  <a:alpha val="42745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 flipV="true">
              <a:off x="75672" y="1016050"/>
              <a:ext cx="11775474" cy="0"/>
            </a:xfrm>
            <a:prstGeom prst="line">
              <a:avLst/>
            </a:prstGeom>
            <a:ln cap="flat" w="50800">
              <a:solidFill>
                <a:srgbClr val="000000">
                  <a:alpha val="3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5" id="65"/>
            <p:cNvSpPr txBox="true"/>
            <p:nvPr/>
          </p:nvSpPr>
          <p:spPr>
            <a:xfrm rot="0">
              <a:off x="4136824" y="379216"/>
              <a:ext cx="4627620" cy="497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04"/>
                </a:lnSpc>
              </a:pPr>
              <a:r>
                <a:rPr lang="en-US" sz="2212" b="true">
                  <a:solidFill>
                    <a:srgbClr val="4B4A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Meaning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648420" y="372793"/>
              <a:ext cx="1510044" cy="497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4"/>
                </a:lnSpc>
              </a:pPr>
              <a:r>
                <a:rPr lang="en-US" sz="2212" b="true">
                  <a:solidFill>
                    <a:srgbClr val="4B4A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Symbol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813808" y="1141629"/>
              <a:ext cx="1057935" cy="672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3"/>
                </a:lnSpc>
              </a:pPr>
              <a:r>
                <a:rPr lang="en-US" sz="28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f</a:t>
              </a:r>
              <a:r>
                <a:rPr lang="en-US" sz="2812">
                  <a:solidFill>
                    <a:srgbClr val="4B4A4A"/>
                  </a:solidFill>
                  <a:latin typeface="Craw Modern"/>
                  <a:ea typeface="Craw Modern"/>
                  <a:cs typeface="Craw Modern"/>
                  <a:sym typeface="Craw Modern"/>
                </a:rPr>
                <a:t> (•)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2592863" y="1365704"/>
              <a:ext cx="8792280" cy="476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9"/>
                </a:lnSpc>
              </a:pPr>
              <a:r>
                <a:rPr lang="en-US" sz="21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Probability density function (pdf)</a:t>
              </a:r>
              <a:r>
                <a:rPr lang="en-US" sz="21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 of daily demand D </a:t>
              </a:r>
            </a:p>
          </p:txBody>
        </p:sp>
        <p:sp>
          <p:nvSpPr>
            <p:cNvPr name="AutoShape 69" id="69"/>
            <p:cNvSpPr/>
            <p:nvPr/>
          </p:nvSpPr>
          <p:spPr>
            <a:xfrm flipV="true">
              <a:off x="215534" y="2022830"/>
              <a:ext cx="11518888" cy="50895"/>
            </a:xfrm>
            <a:prstGeom prst="line">
              <a:avLst/>
            </a:prstGeom>
            <a:ln cap="flat" w="25400">
              <a:solidFill>
                <a:srgbClr val="000000">
                  <a:alpha val="14902"/>
                </a:srgbClr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2492937" y="2026571"/>
              <a:ext cx="8892206" cy="984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59"/>
                </a:lnSpc>
              </a:pPr>
              <a:r>
                <a:rPr lang="en-US" sz="21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Cumulative distribution function (CDF)</a:t>
              </a:r>
              <a:r>
                <a:rPr lang="en-US" sz="21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 of daily demand D; F  (Q) = P(D ≤Q)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2492937" y="3097662"/>
              <a:ext cx="8892206" cy="937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14"/>
                </a:lnSpc>
              </a:pPr>
              <a:r>
                <a:rPr lang="en-US" sz="20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Quantile</a:t>
              </a:r>
              <a:r>
                <a:rPr lang="en-US" sz="2012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20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function of D; inverse CDF</a:t>
              </a:r>
              <a:r>
                <a:rPr lang="en-US" sz="20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 used to find Q * directly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2492937" y="4283054"/>
              <a:ext cx="8892206" cy="984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58"/>
                </a:lnSpc>
              </a:pPr>
              <a:r>
                <a:rPr lang="en-US" sz="21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Standard normal quantile function </a:t>
              </a:r>
            </a:p>
            <a:p>
              <a:pPr algn="just">
                <a:lnSpc>
                  <a:spcPts val="3059"/>
                </a:lnSpc>
              </a:pPr>
              <a:r>
                <a:rPr lang="en-US" sz="21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(</a:t>
              </a:r>
              <a:r>
                <a:rPr lang="en-US" sz="2112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used when D ∼ N(µ,σ ))</a:t>
              </a:r>
            </a:p>
          </p:txBody>
        </p:sp>
        <p:sp>
          <p:nvSpPr>
            <p:cNvPr name="AutoShape 73" id="73"/>
            <p:cNvSpPr/>
            <p:nvPr/>
          </p:nvSpPr>
          <p:spPr>
            <a:xfrm flipV="true">
              <a:off x="153522" y="3036308"/>
              <a:ext cx="11518888" cy="50895"/>
            </a:xfrm>
            <a:prstGeom prst="line">
              <a:avLst/>
            </a:prstGeom>
            <a:ln cap="flat" w="25400">
              <a:solidFill>
                <a:srgbClr val="000000">
                  <a:alpha val="14902"/>
                </a:srgbClr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AutoShape 74" id="74"/>
            <p:cNvSpPr/>
            <p:nvPr/>
          </p:nvSpPr>
          <p:spPr>
            <a:xfrm flipV="true">
              <a:off x="91511" y="4049787"/>
              <a:ext cx="11518888" cy="50895"/>
            </a:xfrm>
            <a:prstGeom prst="line">
              <a:avLst/>
            </a:prstGeom>
            <a:ln cap="flat" w="25400">
              <a:solidFill>
                <a:srgbClr val="000000">
                  <a:alpha val="14902"/>
                </a:srgbClr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TextBox 75" id="75"/>
            <p:cNvSpPr txBox="true"/>
            <p:nvPr/>
          </p:nvSpPr>
          <p:spPr>
            <a:xfrm rot="0">
              <a:off x="695696" y="2172150"/>
              <a:ext cx="1057935" cy="672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3"/>
                </a:lnSpc>
              </a:pPr>
              <a:r>
                <a:rPr lang="en-US" sz="28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F </a:t>
              </a:r>
              <a:r>
                <a:rPr lang="en-US" sz="2812">
                  <a:solidFill>
                    <a:srgbClr val="4B4A4A"/>
                  </a:solidFill>
                  <a:latin typeface="Craw Modern"/>
                  <a:ea typeface="Craw Modern"/>
                  <a:cs typeface="Craw Modern"/>
                  <a:sym typeface="Craw Modern"/>
                </a:rPr>
                <a:t>(•)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648420" y="2541009"/>
              <a:ext cx="1057935" cy="423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</a:pPr>
              <a:r>
                <a:rPr lang="en-US" sz="17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D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648420" y="1523326"/>
              <a:ext cx="1057935" cy="423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</a:pPr>
              <a:r>
                <a:rPr lang="en-US" sz="17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D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719334" y="3198328"/>
              <a:ext cx="1173568" cy="672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3"/>
                </a:lnSpc>
              </a:pPr>
              <a:r>
                <a:rPr lang="en-US" sz="28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F  </a:t>
              </a:r>
              <a:r>
                <a:rPr lang="en-US" sz="2812">
                  <a:solidFill>
                    <a:srgbClr val="4B4A4A"/>
                  </a:solidFill>
                  <a:latin typeface="Craw Modern"/>
                  <a:ea typeface="Craw Modern"/>
                  <a:cs typeface="Craw Modern"/>
                  <a:sym typeface="Craw Modern"/>
                </a:rPr>
                <a:t>(•)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672058" y="3567187"/>
              <a:ext cx="1057935" cy="423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</a:pPr>
              <a:r>
                <a:rPr lang="en-US" sz="17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D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813808" y="3147528"/>
              <a:ext cx="1057935" cy="350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5"/>
                </a:lnSpc>
              </a:pPr>
              <a:r>
                <a:rPr lang="en-US" sz="1412">
                  <a:solidFill>
                    <a:srgbClr val="4B4A4A"/>
                  </a:solidFill>
                  <a:latin typeface="Craw Modern"/>
                  <a:ea typeface="Craw Modern"/>
                  <a:cs typeface="Craw Modern"/>
                  <a:sym typeface="Craw Modern"/>
                </a:rPr>
                <a:t>---1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779629" y="4324329"/>
              <a:ext cx="1173568" cy="682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3"/>
                </a:lnSpc>
              </a:pPr>
              <a:r>
                <a:rPr lang="en-US" sz="2812">
                  <a:solidFill>
                    <a:srgbClr val="4B4A4A"/>
                  </a:solidFill>
                  <a:latin typeface="Craw Modern Bold"/>
                  <a:ea typeface="Craw Modern Bold"/>
                  <a:cs typeface="Craw Modern Bold"/>
                  <a:sym typeface="Craw Modern Bold"/>
                </a:rPr>
                <a:t>Φ</a:t>
              </a:r>
              <a:r>
                <a:rPr lang="en-US" sz="28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  </a:t>
              </a:r>
              <a:r>
                <a:rPr lang="en-US" sz="2812">
                  <a:solidFill>
                    <a:srgbClr val="4B4A4A"/>
                  </a:solidFill>
                  <a:latin typeface="Craw Modern"/>
                  <a:ea typeface="Craw Modern"/>
                  <a:cs typeface="Craw Modern"/>
                  <a:sym typeface="Craw Modern"/>
                </a:rPr>
                <a:t>(•)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732353" y="4693188"/>
              <a:ext cx="1057935" cy="423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</a:pPr>
              <a:r>
                <a:rPr lang="en-US" sz="17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D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874103" y="4273529"/>
              <a:ext cx="1057935" cy="350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5"/>
                </a:lnSpc>
              </a:pPr>
              <a:r>
                <a:rPr lang="en-US" sz="1412">
                  <a:solidFill>
                    <a:srgbClr val="4B4A4A"/>
                  </a:solidFill>
                  <a:latin typeface="Craw Modern"/>
                  <a:ea typeface="Craw Modern"/>
                  <a:cs typeface="Craw Modern"/>
                  <a:sym typeface="Craw Modern"/>
                </a:rPr>
                <a:t>---1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6027266" y="4830918"/>
              <a:ext cx="175584" cy="298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</a:pPr>
              <a:r>
                <a:rPr lang="en-US" sz="1212" b="true">
                  <a:solidFill>
                    <a:srgbClr val="4B4A4A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2683312" y="2749486"/>
              <a:ext cx="1057935" cy="371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0"/>
                </a:lnSpc>
              </a:pPr>
              <a:r>
                <a:rPr lang="en-US" sz="1512" i="true">
                  <a:solidFill>
                    <a:srgbClr val="4B4A4A"/>
                  </a:solidFill>
                  <a:latin typeface="Craw Modern Italics"/>
                  <a:ea typeface="Craw Modern Italics"/>
                  <a:cs typeface="Craw Modern Italics"/>
                  <a:sym typeface="Craw Modern Italics"/>
                </a:rPr>
                <a:t>D</a:t>
              </a:r>
            </a:p>
          </p:txBody>
        </p:sp>
      </p:grpSp>
      <p:sp>
        <p:nvSpPr>
          <p:cNvPr name="AutoShape 86" id="86"/>
          <p:cNvSpPr/>
          <p:nvPr/>
        </p:nvSpPr>
        <p:spPr>
          <a:xfrm>
            <a:off x="9277593" y="4523627"/>
            <a:ext cx="7980264" cy="0"/>
          </a:xfrm>
          <a:prstGeom prst="line">
            <a:avLst/>
          </a:prstGeom>
          <a:ln cap="flat" w="19050">
            <a:solidFill>
              <a:srgbClr val="000000">
                <a:alpha val="14902"/>
              </a:srgbClr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9198268" y="5467798"/>
            <a:ext cx="7980264" cy="0"/>
          </a:xfrm>
          <a:prstGeom prst="line">
            <a:avLst/>
          </a:prstGeom>
          <a:ln cap="flat" w="19050">
            <a:solidFill>
              <a:srgbClr val="000000">
                <a:alpha val="14902"/>
              </a:srgbClr>
            </a:solidFill>
            <a:prstDash val="lg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0153" y="687982"/>
            <a:ext cx="8938781" cy="765079"/>
            <a:chOff x="0" y="0"/>
            <a:chExt cx="8453321" cy="723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53143" cy="723440"/>
            </a:xfrm>
            <a:custGeom>
              <a:avLst/>
              <a:gdLst/>
              <a:ahLst/>
              <a:cxnLst/>
              <a:rect r="r" b="b" t="t" l="l"/>
              <a:pathLst>
                <a:path h="723440" w="8453143">
                  <a:moveTo>
                    <a:pt x="0" y="289761"/>
                  </a:moveTo>
                  <a:cubicBezTo>
                    <a:pt x="0" y="129579"/>
                    <a:pt x="225298" y="0"/>
                    <a:pt x="502611" y="0"/>
                  </a:cubicBezTo>
                  <a:lnTo>
                    <a:pt x="7950531" y="0"/>
                  </a:lnTo>
                  <a:lnTo>
                    <a:pt x="7950531" y="8744"/>
                  </a:lnTo>
                  <a:lnTo>
                    <a:pt x="7950531" y="0"/>
                  </a:lnTo>
                  <a:cubicBezTo>
                    <a:pt x="8227844" y="0"/>
                    <a:pt x="8453143" y="129579"/>
                    <a:pt x="8453143" y="289761"/>
                  </a:cubicBezTo>
                  <a:lnTo>
                    <a:pt x="8438281" y="289761"/>
                  </a:lnTo>
                  <a:lnTo>
                    <a:pt x="8453143" y="289761"/>
                  </a:lnTo>
                  <a:lnTo>
                    <a:pt x="8453143" y="433679"/>
                  </a:lnTo>
                  <a:lnTo>
                    <a:pt x="8438281" y="433679"/>
                  </a:lnTo>
                  <a:lnTo>
                    <a:pt x="8453143" y="433679"/>
                  </a:lnTo>
                  <a:cubicBezTo>
                    <a:pt x="8453143" y="593861"/>
                    <a:pt x="8227844" y="723440"/>
                    <a:pt x="7950531" y="723440"/>
                  </a:cubicBezTo>
                  <a:lnTo>
                    <a:pt x="7950531" y="714697"/>
                  </a:lnTo>
                  <a:lnTo>
                    <a:pt x="7950531" y="723440"/>
                  </a:lnTo>
                  <a:lnTo>
                    <a:pt x="502611" y="723440"/>
                  </a:lnTo>
                  <a:lnTo>
                    <a:pt x="502611" y="714697"/>
                  </a:lnTo>
                  <a:lnTo>
                    <a:pt x="502611" y="723440"/>
                  </a:lnTo>
                  <a:cubicBezTo>
                    <a:pt x="225298" y="723591"/>
                    <a:pt x="0" y="593861"/>
                    <a:pt x="0" y="433679"/>
                  </a:cubicBezTo>
                  <a:lnTo>
                    <a:pt x="0" y="289761"/>
                  </a:lnTo>
                  <a:lnTo>
                    <a:pt x="14861" y="289761"/>
                  </a:lnTo>
                  <a:lnTo>
                    <a:pt x="0" y="289761"/>
                  </a:lnTo>
                  <a:moveTo>
                    <a:pt x="29723" y="289761"/>
                  </a:moveTo>
                  <a:lnTo>
                    <a:pt x="29723" y="433679"/>
                  </a:lnTo>
                  <a:lnTo>
                    <a:pt x="14861" y="433679"/>
                  </a:lnTo>
                  <a:lnTo>
                    <a:pt x="29723" y="433679"/>
                  </a:lnTo>
                  <a:cubicBezTo>
                    <a:pt x="29723" y="583893"/>
                    <a:pt x="241349" y="705953"/>
                    <a:pt x="502611" y="705953"/>
                  </a:cubicBezTo>
                  <a:lnTo>
                    <a:pt x="7950531" y="705953"/>
                  </a:lnTo>
                  <a:cubicBezTo>
                    <a:pt x="8212091" y="705953"/>
                    <a:pt x="8423420" y="583893"/>
                    <a:pt x="8423420" y="433679"/>
                  </a:cubicBezTo>
                  <a:lnTo>
                    <a:pt x="8423420" y="289761"/>
                  </a:lnTo>
                  <a:cubicBezTo>
                    <a:pt x="8423718" y="139547"/>
                    <a:pt x="8212092" y="17487"/>
                    <a:pt x="7950531" y="17487"/>
                  </a:cubicBezTo>
                  <a:lnTo>
                    <a:pt x="502611" y="17487"/>
                  </a:lnTo>
                  <a:lnTo>
                    <a:pt x="502611" y="8744"/>
                  </a:lnTo>
                  <a:lnTo>
                    <a:pt x="502611" y="17487"/>
                  </a:lnTo>
                  <a:cubicBezTo>
                    <a:pt x="241349" y="17487"/>
                    <a:pt x="29723" y="139547"/>
                    <a:pt x="29723" y="289761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61363" y="1070522"/>
            <a:ext cx="7076923" cy="7076923"/>
            <a:chOff x="0" y="0"/>
            <a:chExt cx="9435897" cy="943589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435846" cy="9435846"/>
            </a:xfrm>
            <a:custGeom>
              <a:avLst/>
              <a:gdLst/>
              <a:ahLst/>
              <a:cxnLst/>
              <a:rect r="r" b="b" t="t" l="l"/>
              <a:pathLst>
                <a:path h="9435846" w="9435846">
                  <a:moveTo>
                    <a:pt x="0" y="0"/>
                  </a:moveTo>
                  <a:lnTo>
                    <a:pt x="9435846" y="0"/>
                  </a:lnTo>
                  <a:lnTo>
                    <a:pt x="9435846" y="9435846"/>
                  </a:lnTo>
                  <a:lnTo>
                    <a:pt x="0" y="9435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3719" y="6249041"/>
            <a:ext cx="10310546" cy="1493648"/>
            <a:chOff x="0" y="0"/>
            <a:chExt cx="13747395" cy="19915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34695" cy="1991531"/>
            </a:xfrm>
            <a:custGeom>
              <a:avLst/>
              <a:gdLst/>
              <a:ahLst/>
              <a:cxnLst/>
              <a:rect r="r" b="b" t="t" l="l"/>
              <a:pathLst>
                <a:path h="1991531" w="13734695">
                  <a:moveTo>
                    <a:pt x="0" y="0"/>
                  </a:moveTo>
                  <a:lnTo>
                    <a:pt x="13734695" y="0"/>
                  </a:lnTo>
                  <a:lnTo>
                    <a:pt x="13734695" y="1991531"/>
                  </a:lnTo>
                  <a:lnTo>
                    <a:pt x="0" y="1991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34695" cy="1991531"/>
            </a:xfrm>
            <a:custGeom>
              <a:avLst/>
              <a:gdLst/>
              <a:ahLst/>
              <a:cxnLst/>
              <a:rect r="r" b="b" t="t" l="l"/>
              <a:pathLst>
                <a:path h="1991531" w="13734695">
                  <a:moveTo>
                    <a:pt x="0" y="0"/>
                  </a:moveTo>
                  <a:lnTo>
                    <a:pt x="13734695" y="0"/>
                  </a:lnTo>
                  <a:lnTo>
                    <a:pt x="13734695" y="1991531"/>
                  </a:lnTo>
                  <a:lnTo>
                    <a:pt x="0" y="1991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13734695" cy="1991531"/>
            </a:xfrm>
            <a:custGeom>
              <a:avLst/>
              <a:gdLst/>
              <a:ahLst/>
              <a:cxnLst/>
              <a:rect r="r" b="b" t="t" l="l"/>
              <a:pathLst>
                <a:path h="1991531" w="13734695">
                  <a:moveTo>
                    <a:pt x="0" y="0"/>
                  </a:moveTo>
                  <a:lnTo>
                    <a:pt x="13734695" y="0"/>
                  </a:lnTo>
                  <a:lnTo>
                    <a:pt x="13734695" y="1991531"/>
                  </a:lnTo>
                  <a:lnTo>
                    <a:pt x="0" y="1991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2141" y="3872287"/>
            <a:ext cx="7945081" cy="1271213"/>
            <a:chOff x="0" y="0"/>
            <a:chExt cx="10593442" cy="1694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93442" cy="1694951"/>
            </a:xfrm>
            <a:custGeom>
              <a:avLst/>
              <a:gdLst/>
              <a:ahLst/>
              <a:cxnLst/>
              <a:rect r="r" b="b" t="t" l="l"/>
              <a:pathLst>
                <a:path h="1694951" w="10593442">
                  <a:moveTo>
                    <a:pt x="0" y="0"/>
                  </a:moveTo>
                  <a:lnTo>
                    <a:pt x="10593442" y="0"/>
                  </a:lnTo>
                  <a:lnTo>
                    <a:pt x="10593442" y="1694951"/>
                  </a:lnTo>
                  <a:lnTo>
                    <a:pt x="0" y="1694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93442" cy="1694951"/>
            </a:xfrm>
            <a:custGeom>
              <a:avLst/>
              <a:gdLst/>
              <a:ahLst/>
              <a:cxnLst/>
              <a:rect r="r" b="b" t="t" l="l"/>
              <a:pathLst>
                <a:path h="1694951" w="10593442">
                  <a:moveTo>
                    <a:pt x="0" y="0"/>
                  </a:moveTo>
                  <a:lnTo>
                    <a:pt x="10593442" y="0"/>
                  </a:lnTo>
                  <a:lnTo>
                    <a:pt x="10593442" y="1694951"/>
                  </a:lnTo>
                  <a:lnTo>
                    <a:pt x="0" y="1694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93442" cy="1694951"/>
            </a:xfrm>
            <a:custGeom>
              <a:avLst/>
              <a:gdLst/>
              <a:ahLst/>
              <a:cxnLst/>
              <a:rect r="r" b="b" t="t" l="l"/>
              <a:pathLst>
                <a:path h="1694951" w="10593442">
                  <a:moveTo>
                    <a:pt x="0" y="0"/>
                  </a:moveTo>
                  <a:lnTo>
                    <a:pt x="10593442" y="0"/>
                  </a:lnTo>
                  <a:lnTo>
                    <a:pt x="10593442" y="1694951"/>
                  </a:lnTo>
                  <a:lnTo>
                    <a:pt x="0" y="1694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399" y="8441138"/>
            <a:ext cx="2941001" cy="1735191"/>
            <a:chOff x="0" y="0"/>
            <a:chExt cx="3921335" cy="2313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21335" cy="2313588"/>
            </a:xfrm>
            <a:custGeom>
              <a:avLst/>
              <a:gdLst/>
              <a:ahLst/>
              <a:cxnLst/>
              <a:rect r="r" b="b" t="t" l="l"/>
              <a:pathLst>
                <a:path h="2313588" w="3921335">
                  <a:moveTo>
                    <a:pt x="0" y="0"/>
                  </a:moveTo>
                  <a:lnTo>
                    <a:pt x="3921335" y="0"/>
                  </a:lnTo>
                  <a:lnTo>
                    <a:pt x="3921335" y="2313588"/>
                  </a:lnTo>
                  <a:lnTo>
                    <a:pt x="0" y="23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21685" y="35199"/>
              <a:ext cx="2128765" cy="2134100"/>
            </a:xfrm>
            <a:custGeom>
              <a:avLst/>
              <a:gdLst/>
              <a:ahLst/>
              <a:cxnLst/>
              <a:rect r="r" b="b" t="t" l="l"/>
              <a:pathLst>
                <a:path h="2134100" w="2128765">
                  <a:moveTo>
                    <a:pt x="0" y="0"/>
                  </a:moveTo>
                  <a:lnTo>
                    <a:pt x="2128765" y="0"/>
                  </a:lnTo>
                  <a:lnTo>
                    <a:pt x="2128765" y="2134101"/>
                  </a:lnTo>
                  <a:lnTo>
                    <a:pt x="0" y="2134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19999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339942" y="8390705"/>
            <a:ext cx="2941001" cy="1735191"/>
            <a:chOff x="0" y="0"/>
            <a:chExt cx="3921335" cy="23135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21335" cy="2313588"/>
            </a:xfrm>
            <a:custGeom>
              <a:avLst/>
              <a:gdLst/>
              <a:ahLst/>
              <a:cxnLst/>
              <a:rect r="r" b="b" t="t" l="l"/>
              <a:pathLst>
                <a:path h="2313588" w="3921335">
                  <a:moveTo>
                    <a:pt x="0" y="0"/>
                  </a:moveTo>
                  <a:lnTo>
                    <a:pt x="3921335" y="0"/>
                  </a:lnTo>
                  <a:lnTo>
                    <a:pt x="3921335" y="2313588"/>
                  </a:lnTo>
                  <a:lnTo>
                    <a:pt x="0" y="23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96285" y="14809"/>
              <a:ext cx="2128765" cy="2134100"/>
            </a:xfrm>
            <a:custGeom>
              <a:avLst/>
              <a:gdLst/>
              <a:ahLst/>
              <a:cxnLst/>
              <a:rect r="r" b="b" t="t" l="l"/>
              <a:pathLst>
                <a:path h="2134100" w="2128765">
                  <a:moveTo>
                    <a:pt x="0" y="0"/>
                  </a:moveTo>
                  <a:lnTo>
                    <a:pt x="2128765" y="0"/>
                  </a:lnTo>
                  <a:lnTo>
                    <a:pt x="2128765" y="2134100"/>
                  </a:lnTo>
                  <a:lnTo>
                    <a:pt x="0" y="213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19999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398433" y="8323397"/>
            <a:ext cx="2941001" cy="1735191"/>
            <a:chOff x="0" y="0"/>
            <a:chExt cx="3921335" cy="23135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21335" cy="2313588"/>
            </a:xfrm>
            <a:custGeom>
              <a:avLst/>
              <a:gdLst/>
              <a:ahLst/>
              <a:cxnLst/>
              <a:rect r="r" b="b" t="t" l="l"/>
              <a:pathLst>
                <a:path h="2313588" w="3921335">
                  <a:moveTo>
                    <a:pt x="0" y="0"/>
                  </a:moveTo>
                  <a:lnTo>
                    <a:pt x="3921335" y="0"/>
                  </a:lnTo>
                  <a:lnTo>
                    <a:pt x="3921335" y="2313588"/>
                  </a:lnTo>
                  <a:lnTo>
                    <a:pt x="0" y="23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31848" y="0"/>
              <a:ext cx="2128765" cy="2134100"/>
            </a:xfrm>
            <a:custGeom>
              <a:avLst/>
              <a:gdLst/>
              <a:ahLst/>
              <a:cxnLst/>
              <a:rect r="r" b="b" t="t" l="l"/>
              <a:pathLst>
                <a:path h="2134100" w="2128765">
                  <a:moveTo>
                    <a:pt x="0" y="0"/>
                  </a:moveTo>
                  <a:lnTo>
                    <a:pt x="2128765" y="0"/>
                  </a:lnTo>
                  <a:lnTo>
                    <a:pt x="2128765" y="2134100"/>
                  </a:lnTo>
                  <a:lnTo>
                    <a:pt x="0" y="213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19999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453859" y="8323397"/>
            <a:ext cx="2946448" cy="1738405"/>
            <a:chOff x="0" y="0"/>
            <a:chExt cx="3928598" cy="23178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28598" cy="2317873"/>
            </a:xfrm>
            <a:custGeom>
              <a:avLst/>
              <a:gdLst/>
              <a:ahLst/>
              <a:cxnLst/>
              <a:rect r="r" b="b" t="t" l="l"/>
              <a:pathLst>
                <a:path h="2317873" w="3928598">
                  <a:moveTo>
                    <a:pt x="0" y="0"/>
                  </a:moveTo>
                  <a:lnTo>
                    <a:pt x="3928598" y="0"/>
                  </a:lnTo>
                  <a:lnTo>
                    <a:pt x="3928598" y="2317873"/>
                  </a:lnTo>
                  <a:lnTo>
                    <a:pt x="0" y="2317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12616" y="0"/>
              <a:ext cx="2128765" cy="2134100"/>
            </a:xfrm>
            <a:custGeom>
              <a:avLst/>
              <a:gdLst/>
              <a:ahLst/>
              <a:cxnLst/>
              <a:rect r="r" b="b" t="t" l="l"/>
              <a:pathLst>
                <a:path h="2134100" w="2128765">
                  <a:moveTo>
                    <a:pt x="0" y="0"/>
                  </a:moveTo>
                  <a:lnTo>
                    <a:pt x="2128766" y="0"/>
                  </a:lnTo>
                  <a:lnTo>
                    <a:pt x="2128766" y="2134100"/>
                  </a:lnTo>
                  <a:lnTo>
                    <a:pt x="0" y="213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19999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005568" y="768072"/>
            <a:ext cx="7609748" cy="5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15">
                <a:solidFill>
                  <a:srgbClr val="006747"/>
                </a:solidFill>
                <a:latin typeface="Boardley"/>
                <a:ea typeface="Boardley"/>
                <a:cs typeface="Boardley"/>
                <a:sym typeface="Boardley"/>
              </a:rPr>
              <a:t>MATHEMATICAL OPTIMIZATION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3328764"/>
            <a:ext cx="2511862" cy="31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Objective Function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0153" y="5826629"/>
            <a:ext cx="2658066" cy="3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Optimization Goal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3204" y="7723639"/>
            <a:ext cx="3491965" cy="42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6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Constraints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5476" y="8618802"/>
            <a:ext cx="1503710" cy="75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5"/>
              </a:lnSpc>
              <a:spcBef>
                <a:spcPct val="0"/>
              </a:spcBef>
            </a:pPr>
            <a:r>
              <a:rPr lang="en-US" sz="4312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Q ≥0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056607" y="8573650"/>
            <a:ext cx="1703526" cy="866392"/>
            <a:chOff x="0" y="0"/>
            <a:chExt cx="2271368" cy="1155190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85870"/>
              <a:ext cx="1147762" cy="852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21"/>
                </a:lnSpc>
                <a:spcBef>
                  <a:spcPct val="0"/>
                </a:spcBef>
              </a:pPr>
              <a:r>
                <a:rPr lang="en-US" sz="3812">
                  <a:solidFill>
                    <a:srgbClr val="000000"/>
                  </a:solidFill>
                  <a:latin typeface="Shrikhand"/>
                  <a:ea typeface="Shrikhand"/>
                  <a:cs typeface="Shrikhand"/>
                  <a:sym typeface="Shrikhand"/>
                </a:rPr>
                <a:t>Q∈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56352" y="40517"/>
              <a:ext cx="1615016" cy="1114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57"/>
                </a:lnSpc>
                <a:spcBef>
                  <a:spcPct val="0"/>
                </a:spcBef>
              </a:pPr>
              <a:r>
                <a:rPr lang="en-US" sz="4942">
                  <a:solidFill>
                    <a:srgbClr val="000000"/>
                  </a:solidFill>
                  <a:latin typeface="Boardley"/>
                  <a:ea typeface="Boardley"/>
                  <a:cs typeface="Boardley"/>
                  <a:sym typeface="Boardley"/>
                </a:rPr>
                <a:t>ℤ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830447" y="-133350"/>
              <a:ext cx="274320" cy="1048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35"/>
                </a:lnSpc>
                <a:spcBef>
                  <a:spcPct val="0"/>
                </a:spcBef>
              </a:pPr>
              <a:r>
                <a:rPr lang="en-US" b="true" sz="4512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⁺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924292" y="8601208"/>
            <a:ext cx="1889283" cy="83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sz="3912" spc="14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Budget </a:t>
            </a:r>
          </a:p>
          <a:p>
            <a:pPr algn="ctr">
              <a:lnSpc>
                <a:spcPts val="74"/>
              </a:lnSpc>
            </a:pPr>
          </a:p>
          <a:p>
            <a:pPr algn="ctr">
              <a:lnSpc>
                <a:spcPts val="2512"/>
              </a:lnSpc>
            </a:pPr>
            <a:r>
              <a:rPr lang="en-US" sz="2512" spc="9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Constraints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72934" y="8649850"/>
            <a:ext cx="2649260" cy="67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231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Single-pe</a:t>
            </a:r>
            <a:r>
              <a:rPr lang="en-US" b="true" sz="231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riod, </a:t>
            </a:r>
          </a:p>
          <a:p>
            <a:pPr algn="ctr">
              <a:lnSpc>
                <a:spcPts val="2636"/>
              </a:lnSpc>
            </a:pPr>
            <a:r>
              <a:rPr lang="en-US" b="true" sz="231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replenishment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3739" y="1184977"/>
            <a:ext cx="4960451" cy="413442"/>
            <a:chOff x="0" y="0"/>
            <a:chExt cx="6613935" cy="55125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13935" cy="551256"/>
              <a:chOff x="0" y="0"/>
              <a:chExt cx="4396470" cy="36643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396455" cy="366448"/>
              </a:xfrm>
              <a:custGeom>
                <a:avLst/>
                <a:gdLst/>
                <a:ahLst/>
                <a:cxnLst/>
                <a:rect r="r" b="b" t="t" l="l"/>
                <a:pathLst>
                  <a:path h="366448" w="4396455">
                    <a:moveTo>
                      <a:pt x="0" y="145829"/>
                    </a:moveTo>
                    <a:cubicBezTo>
                      <a:pt x="0" y="65314"/>
                      <a:pt x="126718" y="0"/>
                      <a:pt x="282930" y="0"/>
                    </a:cubicBezTo>
                    <a:lnTo>
                      <a:pt x="4113525" y="0"/>
                    </a:lnTo>
                    <a:cubicBezTo>
                      <a:pt x="4269737" y="0"/>
                      <a:pt x="4396455" y="65314"/>
                      <a:pt x="4396455" y="145829"/>
                    </a:cubicBezTo>
                    <a:lnTo>
                      <a:pt x="4396455" y="220615"/>
                    </a:lnTo>
                    <a:cubicBezTo>
                      <a:pt x="4396455" y="301130"/>
                      <a:pt x="4269737" y="366448"/>
                      <a:pt x="4113525" y="366448"/>
                    </a:cubicBezTo>
                    <a:lnTo>
                      <a:pt x="282930" y="366448"/>
                    </a:lnTo>
                    <a:cubicBezTo>
                      <a:pt x="126718" y="366448"/>
                      <a:pt x="0" y="301130"/>
                      <a:pt x="0" y="220615"/>
                    </a:cubicBezTo>
                    <a:lnTo>
                      <a:pt x="0" y="145829"/>
                    </a:lnTo>
                    <a:close/>
                  </a:path>
                </a:pathLst>
              </a:custGeom>
              <a:solidFill>
                <a:srgbClr val="CCFFE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87350" y="60786"/>
              <a:ext cx="5355332" cy="394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5"/>
                </a:lnSpc>
              </a:pPr>
              <a:r>
                <a:rPr lang="en-US" sz="1562">
                  <a:solidFill>
                    <a:srgbClr val="4B4A4A"/>
                  </a:solidFill>
                  <a:latin typeface="Craw Modern"/>
                  <a:ea typeface="Craw Modern"/>
                  <a:cs typeface="Craw Modern"/>
                  <a:sym typeface="Craw Modern"/>
                </a:rPr>
                <a:t>VARIABLES AND SOURCES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23872" y="7415212"/>
            <a:ext cx="11564128" cy="2688660"/>
            <a:chOff x="0" y="0"/>
            <a:chExt cx="15418837" cy="3584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18837" cy="3584880"/>
            </a:xfrm>
            <a:custGeom>
              <a:avLst/>
              <a:gdLst/>
              <a:ahLst/>
              <a:cxnLst/>
              <a:rect r="r" b="b" t="t" l="l"/>
              <a:pathLst>
                <a:path h="3584880" w="15418837">
                  <a:moveTo>
                    <a:pt x="0" y="0"/>
                  </a:moveTo>
                  <a:lnTo>
                    <a:pt x="15418837" y="0"/>
                  </a:lnTo>
                  <a:lnTo>
                    <a:pt x="15418837" y="3584880"/>
                  </a:lnTo>
                  <a:lnTo>
                    <a:pt x="0" y="358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8837" cy="3584880"/>
            </a:xfrm>
            <a:custGeom>
              <a:avLst/>
              <a:gdLst/>
              <a:ahLst/>
              <a:cxnLst/>
              <a:rect r="r" b="b" t="t" l="l"/>
              <a:pathLst>
                <a:path h="3584880" w="15418837">
                  <a:moveTo>
                    <a:pt x="0" y="0"/>
                  </a:moveTo>
                  <a:lnTo>
                    <a:pt x="15418837" y="0"/>
                  </a:lnTo>
                  <a:lnTo>
                    <a:pt x="15418837" y="3584880"/>
                  </a:lnTo>
                  <a:lnTo>
                    <a:pt x="0" y="358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418837" cy="3584880"/>
            </a:xfrm>
            <a:custGeom>
              <a:avLst/>
              <a:gdLst/>
              <a:ahLst/>
              <a:cxnLst/>
              <a:rect r="r" b="b" t="t" l="l"/>
              <a:pathLst>
                <a:path h="3584880" w="15418837">
                  <a:moveTo>
                    <a:pt x="0" y="0"/>
                  </a:moveTo>
                  <a:lnTo>
                    <a:pt x="15418837" y="0"/>
                  </a:lnTo>
                  <a:lnTo>
                    <a:pt x="15418837" y="3584880"/>
                  </a:lnTo>
                  <a:lnTo>
                    <a:pt x="0" y="358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418837" cy="3584880"/>
            </a:xfrm>
            <a:custGeom>
              <a:avLst/>
              <a:gdLst/>
              <a:ahLst/>
              <a:cxnLst/>
              <a:rect r="r" b="b" t="t" l="l"/>
              <a:pathLst>
                <a:path h="3584880" w="15418837">
                  <a:moveTo>
                    <a:pt x="0" y="0"/>
                  </a:moveTo>
                  <a:lnTo>
                    <a:pt x="15418837" y="0"/>
                  </a:lnTo>
                  <a:lnTo>
                    <a:pt x="15418837" y="3584880"/>
                  </a:lnTo>
                  <a:lnTo>
                    <a:pt x="0" y="358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30804" y="5136583"/>
            <a:ext cx="3841213" cy="719762"/>
          </a:xfrm>
          <a:custGeom>
            <a:avLst/>
            <a:gdLst/>
            <a:ahLst/>
            <a:cxnLst/>
            <a:rect r="r" b="b" t="t" l="l"/>
            <a:pathLst>
              <a:path h="719762" w="3841213">
                <a:moveTo>
                  <a:pt x="0" y="0"/>
                </a:moveTo>
                <a:lnTo>
                  <a:pt x="3841212" y="0"/>
                </a:lnTo>
                <a:lnTo>
                  <a:pt x="3841212" y="719762"/>
                </a:lnTo>
                <a:lnTo>
                  <a:pt x="0" y="719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89" r="-66433" b="-12403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8262" y="6092692"/>
            <a:ext cx="4911190" cy="719762"/>
          </a:xfrm>
          <a:custGeom>
            <a:avLst/>
            <a:gdLst/>
            <a:ahLst/>
            <a:cxnLst/>
            <a:rect r="r" b="b" t="t" l="l"/>
            <a:pathLst>
              <a:path h="719762" w="4911190">
                <a:moveTo>
                  <a:pt x="0" y="0"/>
                </a:moveTo>
                <a:lnTo>
                  <a:pt x="4911190" y="0"/>
                </a:lnTo>
                <a:lnTo>
                  <a:pt x="4911190" y="719762"/>
                </a:lnTo>
                <a:lnTo>
                  <a:pt x="0" y="719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173" t="-16889" r="0" b="-12403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3288" y="7048801"/>
            <a:ext cx="4955403" cy="719762"/>
          </a:xfrm>
          <a:custGeom>
            <a:avLst/>
            <a:gdLst/>
            <a:ahLst/>
            <a:cxnLst/>
            <a:rect r="r" b="b" t="t" l="l"/>
            <a:pathLst>
              <a:path h="719762" w="4955403">
                <a:moveTo>
                  <a:pt x="0" y="0"/>
                </a:moveTo>
                <a:lnTo>
                  <a:pt x="4955403" y="0"/>
                </a:lnTo>
                <a:lnTo>
                  <a:pt x="4955403" y="719762"/>
                </a:lnTo>
                <a:lnTo>
                  <a:pt x="0" y="719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89" r="-29012" b="-12403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12815" y="8039780"/>
            <a:ext cx="4556026" cy="719762"/>
          </a:xfrm>
          <a:custGeom>
            <a:avLst/>
            <a:gdLst/>
            <a:ahLst/>
            <a:cxnLst/>
            <a:rect r="r" b="b" t="t" l="l"/>
            <a:pathLst>
              <a:path h="719762" w="4556026">
                <a:moveTo>
                  <a:pt x="0" y="0"/>
                </a:moveTo>
                <a:lnTo>
                  <a:pt x="4556026" y="0"/>
                </a:lnTo>
                <a:lnTo>
                  <a:pt x="4556026" y="719762"/>
                </a:lnTo>
                <a:lnTo>
                  <a:pt x="0" y="719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21" t="-16889" r="0" b="-12403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331" y="8950042"/>
            <a:ext cx="5029361" cy="719762"/>
          </a:xfrm>
          <a:custGeom>
            <a:avLst/>
            <a:gdLst/>
            <a:ahLst/>
            <a:cxnLst/>
            <a:rect r="r" b="b" t="t" l="l"/>
            <a:pathLst>
              <a:path h="719762" w="5029361">
                <a:moveTo>
                  <a:pt x="0" y="0"/>
                </a:moveTo>
                <a:lnTo>
                  <a:pt x="5029360" y="0"/>
                </a:lnTo>
                <a:lnTo>
                  <a:pt x="5029360" y="719762"/>
                </a:lnTo>
                <a:lnTo>
                  <a:pt x="0" y="719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89" r="-27114" b="-124039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005292" y="2717984"/>
            <a:ext cx="7901132" cy="3164221"/>
            <a:chOff x="0" y="0"/>
            <a:chExt cx="10534843" cy="4218961"/>
          </a:xfrm>
        </p:grpSpPr>
        <p:sp>
          <p:nvSpPr>
            <p:cNvPr name="Freeform 21" id="21"/>
            <p:cNvSpPr/>
            <p:nvPr/>
          </p:nvSpPr>
          <p:spPr>
            <a:xfrm flipH="true" flipV="false" rot="0">
              <a:off x="721797" y="0"/>
              <a:ext cx="4662202" cy="1094551"/>
            </a:xfrm>
            <a:custGeom>
              <a:avLst/>
              <a:gdLst/>
              <a:ahLst/>
              <a:cxnLst/>
              <a:rect r="r" b="b" t="t" l="l"/>
              <a:pathLst>
                <a:path h="1094551" w="4662202">
                  <a:moveTo>
                    <a:pt x="4662202" y="0"/>
                  </a:moveTo>
                  <a:lnTo>
                    <a:pt x="0" y="0"/>
                  </a:lnTo>
                  <a:lnTo>
                    <a:pt x="0" y="1094551"/>
                  </a:lnTo>
                  <a:lnTo>
                    <a:pt x="4662202" y="1094551"/>
                  </a:lnTo>
                  <a:lnTo>
                    <a:pt x="4662202" y="0"/>
                  </a:lnTo>
                  <a:close/>
                </a:path>
              </a:pathLst>
            </a:custGeom>
            <a:blipFill>
              <a:blip r:embed="rId6"/>
              <a:stretch>
                <a:fillRect l="0" t="-13359" r="0" b="-133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38111" y="215629"/>
              <a:ext cx="6105795" cy="485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sz="21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Daily granularity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true" flipV="true" rot="0">
              <a:off x="721797" y="3124410"/>
              <a:ext cx="4662202" cy="1094551"/>
            </a:xfrm>
            <a:custGeom>
              <a:avLst/>
              <a:gdLst/>
              <a:ahLst/>
              <a:cxnLst/>
              <a:rect r="r" b="b" t="t" l="l"/>
              <a:pathLst>
                <a:path h="1094551" w="4662202">
                  <a:moveTo>
                    <a:pt x="4662202" y="1094551"/>
                  </a:moveTo>
                  <a:lnTo>
                    <a:pt x="0" y="1094551"/>
                  </a:lnTo>
                  <a:lnTo>
                    <a:pt x="0" y="0"/>
                  </a:lnTo>
                  <a:lnTo>
                    <a:pt x="4662202" y="0"/>
                  </a:lnTo>
                  <a:lnTo>
                    <a:pt x="4662202" y="1094551"/>
                  </a:lnTo>
                  <a:close/>
                </a:path>
              </a:pathLst>
            </a:custGeom>
            <a:blipFill>
              <a:blip r:embed="rId6"/>
              <a:stretch>
                <a:fillRect l="0" t="-13359" r="0" b="-1335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3482104"/>
              <a:ext cx="6105795" cy="485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sz="21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L</a:t>
              </a:r>
              <a:r>
                <a:rPr lang="en-US" sz="21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ive Updates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5157194" y="2106059"/>
              <a:ext cx="4662202" cy="764351"/>
            </a:xfrm>
            <a:custGeom>
              <a:avLst/>
              <a:gdLst/>
              <a:ahLst/>
              <a:cxnLst/>
              <a:rect r="r" b="b" t="t" l="l"/>
              <a:pathLst>
                <a:path h="764351" w="4662202">
                  <a:moveTo>
                    <a:pt x="0" y="0"/>
                  </a:moveTo>
                  <a:lnTo>
                    <a:pt x="4662202" y="0"/>
                  </a:lnTo>
                  <a:lnTo>
                    <a:pt x="4662202" y="764351"/>
                  </a:lnTo>
                  <a:lnTo>
                    <a:pt x="0" y="764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2330" r="0" b="-1913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true" rot="0">
              <a:off x="5144494" y="1374590"/>
              <a:ext cx="4662202" cy="756869"/>
            </a:xfrm>
            <a:custGeom>
              <a:avLst/>
              <a:gdLst/>
              <a:ahLst/>
              <a:cxnLst/>
              <a:rect r="r" b="b" t="t" l="l"/>
              <a:pathLst>
                <a:path h="756869" w="4662202">
                  <a:moveTo>
                    <a:pt x="0" y="756869"/>
                  </a:moveTo>
                  <a:lnTo>
                    <a:pt x="4662202" y="756869"/>
                  </a:lnTo>
                  <a:lnTo>
                    <a:pt x="4662202" y="0"/>
                  </a:lnTo>
                  <a:lnTo>
                    <a:pt x="0" y="0"/>
                  </a:lnTo>
                  <a:lnTo>
                    <a:pt x="0" y="756869"/>
                  </a:lnTo>
                  <a:close/>
                </a:path>
              </a:pathLst>
            </a:custGeom>
            <a:blipFill>
              <a:blip r:embed="rId6"/>
              <a:stretch>
                <a:fillRect l="0" t="-63935" r="0" b="-1931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429048" y="1455341"/>
              <a:ext cx="6105795" cy="11209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8"/>
                </a:lnSpc>
                <a:spcBef>
                  <a:spcPct val="0"/>
                </a:spcBef>
              </a:pPr>
              <a:r>
                <a:rPr lang="en-US" sz="21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Pub</a:t>
              </a:r>
              <a:r>
                <a:rPr lang="en-US" sz="21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lic </a:t>
              </a:r>
            </a:p>
            <a:p>
              <a:pPr algn="ctr">
                <a:lnSpc>
                  <a:spcPts val="756"/>
                </a:lnSpc>
              </a:pPr>
              <a:r>
                <a:rPr lang="en-US" sz="15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and </a:t>
              </a:r>
            </a:p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sz="21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R</a:t>
              </a:r>
              <a:r>
                <a:rPr lang="en-US" sz="2112">
                  <a:solidFill>
                    <a:srgbClr val="5E17EB"/>
                  </a:solidFill>
                  <a:latin typeface="Brick Sans"/>
                  <a:ea typeface="Brick Sans"/>
                  <a:cs typeface="Brick Sans"/>
                  <a:sym typeface="Brick Sans"/>
                </a:rPr>
                <a:t>eproducible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true" flipV="false" rot="-5664613">
            <a:off x="15225441" y="2340524"/>
            <a:ext cx="841140" cy="973824"/>
          </a:xfrm>
          <a:custGeom>
            <a:avLst/>
            <a:gdLst/>
            <a:ahLst/>
            <a:cxnLst/>
            <a:rect r="r" b="b" t="t" l="l"/>
            <a:pathLst>
              <a:path h="973824" w="841140">
                <a:moveTo>
                  <a:pt x="841140" y="0"/>
                </a:moveTo>
                <a:lnTo>
                  <a:pt x="0" y="0"/>
                </a:lnTo>
                <a:lnTo>
                  <a:pt x="0" y="973824"/>
                </a:lnTo>
                <a:lnTo>
                  <a:pt x="841140" y="973824"/>
                </a:lnTo>
                <a:lnTo>
                  <a:pt x="84114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3130023">
            <a:off x="12054318" y="3904039"/>
            <a:ext cx="1237472" cy="586252"/>
          </a:xfrm>
          <a:custGeom>
            <a:avLst/>
            <a:gdLst/>
            <a:ahLst/>
            <a:cxnLst/>
            <a:rect r="r" b="b" t="t" l="l"/>
            <a:pathLst>
              <a:path h="586252" w="1237472">
                <a:moveTo>
                  <a:pt x="0" y="0"/>
                </a:moveTo>
                <a:lnTo>
                  <a:pt x="1237471" y="0"/>
                </a:lnTo>
                <a:lnTo>
                  <a:pt x="1237471" y="586252"/>
                </a:lnTo>
                <a:lnTo>
                  <a:pt x="0" y="5862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1780303">
            <a:off x="14591353" y="4865637"/>
            <a:ext cx="1054658" cy="1213995"/>
          </a:xfrm>
          <a:custGeom>
            <a:avLst/>
            <a:gdLst/>
            <a:ahLst/>
            <a:cxnLst/>
            <a:rect r="r" b="b" t="t" l="l"/>
            <a:pathLst>
              <a:path h="1213995" w="1054658">
                <a:moveTo>
                  <a:pt x="0" y="0"/>
                </a:moveTo>
                <a:lnTo>
                  <a:pt x="1054658" y="0"/>
                </a:lnTo>
                <a:lnTo>
                  <a:pt x="1054658" y="1213994"/>
                </a:lnTo>
                <a:lnTo>
                  <a:pt x="0" y="12139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34566" y="2495647"/>
            <a:ext cx="908556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b="true" sz="193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IMD Observed Rainfall</a:t>
            </a:r>
            <a:r>
              <a:rPr lang="en-US" sz="193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— official meteorological records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b="true" sz="193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Kaggle Bangalore Weather Snapshot</a:t>
            </a:r>
            <a:r>
              <a:rPr lang="en-US" sz="193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— supplementary historical data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4566" y="376838"/>
            <a:ext cx="15130015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 Collection &amp; Rainfall-to-Demand Mapping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4566" y="1849585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 Sources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3739" y="4471092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Key Variables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66890" y="6847178"/>
            <a:ext cx="698896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RD Mapping (Poisson → Normal Transition)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83676" y="5254520"/>
            <a:ext cx="1461444" cy="52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  <a:spcBef>
                <a:spcPct val="0"/>
              </a:spcBef>
            </a:pPr>
            <a:r>
              <a:rPr lang="en-US" sz="2857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date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9357" y="6249790"/>
            <a:ext cx="4160930" cy="45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9"/>
              </a:lnSpc>
              <a:spcBef>
                <a:spcPct val="0"/>
              </a:spcBef>
            </a:pPr>
            <a:r>
              <a:rPr lang="en-US" sz="2450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location_name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12682" y="7172301"/>
            <a:ext cx="3174281" cy="45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9"/>
              </a:lnSpc>
              <a:spcBef>
                <a:spcPct val="0"/>
              </a:spcBef>
            </a:pPr>
            <a:r>
              <a:rPr lang="en-US" sz="2450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precip_mm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481306" y="8168613"/>
            <a:ext cx="1765318" cy="45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9"/>
              </a:lnSpc>
              <a:spcBef>
                <a:spcPct val="0"/>
              </a:spcBef>
            </a:pPr>
            <a:r>
              <a:rPr lang="en-US" sz="2450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month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8262" y="9038114"/>
            <a:ext cx="4145607" cy="45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9"/>
              </a:lnSpc>
              <a:spcBef>
                <a:spcPct val="0"/>
              </a:spcBef>
            </a:pPr>
            <a:r>
              <a:rPr lang="en-US" sz="2450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demand_est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32814" y="1681496"/>
            <a:ext cx="4886563" cy="48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  <a:spcBef>
                <a:spcPct val="0"/>
              </a:spcBef>
            </a:pPr>
            <a:r>
              <a:rPr lang="en-US" sz="2812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Three specific reasons for this choice: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286059" y="3793036"/>
            <a:ext cx="5408430" cy="1732116"/>
          </a:xfrm>
          <a:custGeom>
            <a:avLst/>
            <a:gdLst/>
            <a:ahLst/>
            <a:cxnLst/>
            <a:rect r="r" b="b" t="t" l="l"/>
            <a:pathLst>
              <a:path h="1732116" w="5408430">
                <a:moveTo>
                  <a:pt x="0" y="0"/>
                </a:moveTo>
                <a:lnTo>
                  <a:pt x="5408430" y="0"/>
                </a:lnTo>
                <a:lnTo>
                  <a:pt x="5408430" y="1732116"/>
                </a:lnTo>
                <a:lnTo>
                  <a:pt x="0" y="1732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0803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7476" y="3231652"/>
            <a:ext cx="1802759" cy="561384"/>
            <a:chOff x="0" y="0"/>
            <a:chExt cx="2403678" cy="748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3729" cy="748411"/>
            </a:xfrm>
            <a:custGeom>
              <a:avLst/>
              <a:gdLst/>
              <a:ahLst/>
              <a:cxnLst/>
              <a:rect r="r" b="b" t="t" l="l"/>
              <a:pathLst>
                <a:path h="748411" w="2403729">
                  <a:moveTo>
                    <a:pt x="0" y="278511"/>
                  </a:moveTo>
                  <a:cubicBezTo>
                    <a:pt x="0" y="124587"/>
                    <a:pt x="126238" y="0"/>
                    <a:pt x="281813" y="0"/>
                  </a:cubicBezTo>
                  <a:lnTo>
                    <a:pt x="2121916" y="0"/>
                  </a:lnTo>
                  <a:lnTo>
                    <a:pt x="2121916" y="6350"/>
                  </a:lnTo>
                  <a:lnTo>
                    <a:pt x="2121916" y="0"/>
                  </a:lnTo>
                  <a:cubicBezTo>
                    <a:pt x="2277491" y="0"/>
                    <a:pt x="2403729" y="124587"/>
                    <a:pt x="2403729" y="278511"/>
                  </a:cubicBezTo>
                  <a:lnTo>
                    <a:pt x="2397379" y="278511"/>
                  </a:lnTo>
                  <a:lnTo>
                    <a:pt x="2403729" y="278511"/>
                  </a:lnTo>
                  <a:lnTo>
                    <a:pt x="2403729" y="469900"/>
                  </a:lnTo>
                  <a:lnTo>
                    <a:pt x="2397379" y="469900"/>
                  </a:lnTo>
                  <a:lnTo>
                    <a:pt x="2403729" y="469900"/>
                  </a:lnTo>
                  <a:cubicBezTo>
                    <a:pt x="2403729" y="623824"/>
                    <a:pt x="2277491" y="748411"/>
                    <a:pt x="2121916" y="748411"/>
                  </a:cubicBezTo>
                  <a:lnTo>
                    <a:pt x="2121916" y="742061"/>
                  </a:lnTo>
                  <a:lnTo>
                    <a:pt x="2121916" y="748411"/>
                  </a:lnTo>
                  <a:lnTo>
                    <a:pt x="281813" y="748411"/>
                  </a:lnTo>
                  <a:lnTo>
                    <a:pt x="281813" y="742061"/>
                  </a:lnTo>
                  <a:lnTo>
                    <a:pt x="281813" y="748411"/>
                  </a:lnTo>
                  <a:cubicBezTo>
                    <a:pt x="126238" y="748538"/>
                    <a:pt x="0" y="623824"/>
                    <a:pt x="0" y="469900"/>
                  </a:cubicBezTo>
                  <a:lnTo>
                    <a:pt x="0" y="278511"/>
                  </a:lnTo>
                  <a:lnTo>
                    <a:pt x="6350" y="278511"/>
                  </a:lnTo>
                  <a:lnTo>
                    <a:pt x="0" y="278511"/>
                  </a:lnTo>
                  <a:moveTo>
                    <a:pt x="12700" y="278511"/>
                  </a:moveTo>
                  <a:lnTo>
                    <a:pt x="12700" y="469900"/>
                  </a:lnTo>
                  <a:lnTo>
                    <a:pt x="6350" y="469900"/>
                  </a:lnTo>
                  <a:lnTo>
                    <a:pt x="12700" y="469900"/>
                  </a:lnTo>
                  <a:cubicBezTo>
                    <a:pt x="12700" y="616712"/>
                    <a:pt x="133096" y="735711"/>
                    <a:pt x="281813" y="735711"/>
                  </a:cubicBezTo>
                  <a:lnTo>
                    <a:pt x="2121916" y="735711"/>
                  </a:lnTo>
                  <a:cubicBezTo>
                    <a:pt x="2270633" y="735711"/>
                    <a:pt x="2391029" y="616585"/>
                    <a:pt x="2391029" y="469900"/>
                  </a:cubicBezTo>
                  <a:lnTo>
                    <a:pt x="2391029" y="278511"/>
                  </a:lnTo>
                  <a:cubicBezTo>
                    <a:pt x="2391029" y="131826"/>
                    <a:pt x="2270633" y="12700"/>
                    <a:pt x="2121916" y="12700"/>
                  </a:cubicBezTo>
                  <a:lnTo>
                    <a:pt x="281813" y="12700"/>
                  </a:lnTo>
                  <a:lnTo>
                    <a:pt x="281813" y="6350"/>
                  </a:lnTo>
                  <a:lnTo>
                    <a:pt x="281813" y="12700"/>
                  </a:lnTo>
                  <a:cubicBezTo>
                    <a:pt x="133096" y="12700"/>
                    <a:pt x="12700" y="131826"/>
                    <a:pt x="12700" y="278511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87476" y="4102446"/>
            <a:ext cx="647405" cy="647405"/>
            <a:chOff x="0" y="0"/>
            <a:chExt cx="863206" cy="86320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63206" cy="863206"/>
              <a:chOff x="0" y="0"/>
              <a:chExt cx="863206" cy="86320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6350" y="6350"/>
                <a:ext cx="850519" cy="850519"/>
              </a:xfrm>
              <a:custGeom>
                <a:avLst/>
                <a:gdLst/>
                <a:ahLst/>
                <a:cxnLst/>
                <a:rect r="r" b="b" t="t" l="l"/>
                <a:pathLst>
                  <a:path h="850519" w="850519">
                    <a:moveTo>
                      <a:pt x="0" y="340233"/>
                    </a:moveTo>
                    <a:cubicBezTo>
                      <a:pt x="0" y="152273"/>
                      <a:pt x="152273" y="0"/>
                      <a:pt x="340233" y="0"/>
                    </a:cubicBezTo>
                    <a:lnTo>
                      <a:pt x="510286" y="0"/>
                    </a:lnTo>
                    <a:cubicBezTo>
                      <a:pt x="698246" y="0"/>
                      <a:pt x="850519" y="152273"/>
                      <a:pt x="850519" y="340233"/>
                    </a:cubicBezTo>
                    <a:lnTo>
                      <a:pt x="850519" y="510286"/>
                    </a:lnTo>
                    <a:cubicBezTo>
                      <a:pt x="850519" y="698246"/>
                      <a:pt x="698246" y="850519"/>
                      <a:pt x="510286" y="850519"/>
                    </a:cubicBezTo>
                    <a:lnTo>
                      <a:pt x="340233" y="850519"/>
                    </a:lnTo>
                    <a:cubicBezTo>
                      <a:pt x="152273" y="850519"/>
                      <a:pt x="0" y="698119"/>
                      <a:pt x="0" y="510286"/>
                    </a:cubicBezTo>
                    <a:close/>
                  </a:path>
                </a:pathLst>
              </a:custGeom>
              <a:solidFill>
                <a:srgbClr val="D1EFE4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63219" cy="863219"/>
              </a:xfrm>
              <a:custGeom>
                <a:avLst/>
                <a:gdLst/>
                <a:ahLst/>
                <a:cxnLst/>
                <a:rect r="r" b="b" t="t" l="l"/>
                <a:pathLst>
                  <a:path h="863219" w="863219">
                    <a:moveTo>
                      <a:pt x="0" y="346583"/>
                    </a:moveTo>
                    <a:cubicBezTo>
                      <a:pt x="0" y="155194"/>
                      <a:pt x="155194" y="0"/>
                      <a:pt x="346583" y="0"/>
                    </a:cubicBezTo>
                    <a:lnTo>
                      <a:pt x="516636" y="0"/>
                    </a:lnTo>
                    <a:lnTo>
                      <a:pt x="516636" y="6350"/>
                    </a:lnTo>
                    <a:lnTo>
                      <a:pt x="516636" y="0"/>
                    </a:lnTo>
                    <a:lnTo>
                      <a:pt x="516636" y="6350"/>
                    </a:lnTo>
                    <a:lnTo>
                      <a:pt x="516636" y="0"/>
                    </a:lnTo>
                    <a:cubicBezTo>
                      <a:pt x="708025" y="0"/>
                      <a:pt x="863219" y="155194"/>
                      <a:pt x="863219" y="346583"/>
                    </a:cubicBezTo>
                    <a:lnTo>
                      <a:pt x="856869" y="346583"/>
                    </a:lnTo>
                    <a:lnTo>
                      <a:pt x="863219" y="346583"/>
                    </a:lnTo>
                    <a:lnTo>
                      <a:pt x="863219" y="516636"/>
                    </a:lnTo>
                    <a:lnTo>
                      <a:pt x="856869" y="516636"/>
                    </a:lnTo>
                    <a:lnTo>
                      <a:pt x="863219" y="516636"/>
                    </a:lnTo>
                    <a:cubicBezTo>
                      <a:pt x="863219" y="708025"/>
                      <a:pt x="708025" y="863219"/>
                      <a:pt x="516636" y="863219"/>
                    </a:cubicBezTo>
                    <a:lnTo>
                      <a:pt x="516636" y="856869"/>
                    </a:lnTo>
                    <a:lnTo>
                      <a:pt x="516636" y="863219"/>
                    </a:lnTo>
                    <a:lnTo>
                      <a:pt x="346583" y="863219"/>
                    </a:lnTo>
                    <a:lnTo>
                      <a:pt x="346583" y="856869"/>
                    </a:lnTo>
                    <a:lnTo>
                      <a:pt x="346583" y="863219"/>
                    </a:lnTo>
                    <a:cubicBezTo>
                      <a:pt x="155194" y="863219"/>
                      <a:pt x="0" y="708025"/>
                      <a:pt x="0" y="516636"/>
                    </a:cubicBezTo>
                    <a:lnTo>
                      <a:pt x="0" y="346583"/>
                    </a:lnTo>
                    <a:lnTo>
                      <a:pt x="6350" y="346583"/>
                    </a:lnTo>
                    <a:lnTo>
                      <a:pt x="0" y="346583"/>
                    </a:lnTo>
                    <a:moveTo>
                      <a:pt x="12700" y="346583"/>
                    </a:moveTo>
                    <a:lnTo>
                      <a:pt x="12700" y="516636"/>
                    </a:lnTo>
                    <a:lnTo>
                      <a:pt x="6350" y="516636"/>
                    </a:lnTo>
                    <a:lnTo>
                      <a:pt x="12700" y="516636"/>
                    </a:lnTo>
                    <a:cubicBezTo>
                      <a:pt x="12700" y="701040"/>
                      <a:pt x="162179" y="850519"/>
                      <a:pt x="346583" y="850519"/>
                    </a:cubicBezTo>
                    <a:lnTo>
                      <a:pt x="516636" y="850519"/>
                    </a:lnTo>
                    <a:cubicBezTo>
                      <a:pt x="701040" y="850519"/>
                      <a:pt x="850519" y="701040"/>
                      <a:pt x="850519" y="516636"/>
                    </a:cubicBezTo>
                    <a:lnTo>
                      <a:pt x="850519" y="346583"/>
                    </a:lnTo>
                    <a:cubicBezTo>
                      <a:pt x="850519" y="162179"/>
                      <a:pt x="701040" y="12700"/>
                      <a:pt x="516636" y="12700"/>
                    </a:cubicBezTo>
                    <a:lnTo>
                      <a:pt x="346583" y="12700"/>
                    </a:lnTo>
                    <a:lnTo>
                      <a:pt x="346583" y="6350"/>
                    </a:lnTo>
                    <a:lnTo>
                      <a:pt x="346583" y="12700"/>
                    </a:lnTo>
                    <a:cubicBezTo>
                      <a:pt x="162179" y="12700"/>
                      <a:pt x="12700" y="162179"/>
                      <a:pt x="12700" y="346583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8133" y="77191"/>
              <a:ext cx="566941" cy="708812"/>
              <a:chOff x="0" y="0"/>
              <a:chExt cx="566941" cy="70881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66937" cy="708818"/>
              </a:xfrm>
              <a:custGeom>
                <a:avLst/>
                <a:gdLst/>
                <a:ahLst/>
                <a:cxnLst/>
                <a:rect r="r" b="b" t="t" l="l"/>
                <a:pathLst>
                  <a:path h="708818" w="566937">
                    <a:moveTo>
                      <a:pt x="0" y="0"/>
                    </a:moveTo>
                    <a:lnTo>
                      <a:pt x="566937" y="0"/>
                    </a:lnTo>
                    <a:lnTo>
                      <a:pt x="566937" y="708818"/>
                    </a:lnTo>
                    <a:lnTo>
                      <a:pt x="0" y="70881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10411" t="0" r="-110411" b="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57150"/>
                <a:ext cx="566941" cy="6516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12"/>
                  </a:lnSpc>
                </a:pPr>
                <a:r>
                  <a:rPr lang="en-US" sz="3312" b="true">
                    <a:solidFill>
                      <a:srgbClr val="4B4A4A"/>
                    </a:solidFill>
                    <a:latin typeface="Noto Serif Bold"/>
                    <a:ea typeface="Noto Serif Bold"/>
                    <a:cs typeface="Noto Serif Bold"/>
                    <a:sym typeface="Noto Serif Bold"/>
                  </a:rPr>
                  <a:t>1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6540103" y="4102446"/>
            <a:ext cx="647405" cy="647405"/>
            <a:chOff x="0" y="0"/>
            <a:chExt cx="863206" cy="8632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63206" cy="863206"/>
              <a:chOff x="0" y="0"/>
              <a:chExt cx="863206" cy="8632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6350" y="6350"/>
                <a:ext cx="850519" cy="850519"/>
              </a:xfrm>
              <a:custGeom>
                <a:avLst/>
                <a:gdLst/>
                <a:ahLst/>
                <a:cxnLst/>
                <a:rect r="r" b="b" t="t" l="l"/>
                <a:pathLst>
                  <a:path h="850519" w="850519">
                    <a:moveTo>
                      <a:pt x="0" y="340233"/>
                    </a:moveTo>
                    <a:cubicBezTo>
                      <a:pt x="0" y="152273"/>
                      <a:pt x="152273" y="0"/>
                      <a:pt x="340233" y="0"/>
                    </a:cubicBezTo>
                    <a:lnTo>
                      <a:pt x="510286" y="0"/>
                    </a:lnTo>
                    <a:cubicBezTo>
                      <a:pt x="698246" y="0"/>
                      <a:pt x="850519" y="152273"/>
                      <a:pt x="850519" y="340233"/>
                    </a:cubicBezTo>
                    <a:lnTo>
                      <a:pt x="850519" y="510286"/>
                    </a:lnTo>
                    <a:cubicBezTo>
                      <a:pt x="850519" y="698246"/>
                      <a:pt x="698246" y="850519"/>
                      <a:pt x="510286" y="850519"/>
                    </a:cubicBezTo>
                    <a:lnTo>
                      <a:pt x="340233" y="850519"/>
                    </a:lnTo>
                    <a:cubicBezTo>
                      <a:pt x="152273" y="850519"/>
                      <a:pt x="0" y="698119"/>
                      <a:pt x="0" y="510286"/>
                    </a:cubicBezTo>
                    <a:close/>
                  </a:path>
                </a:pathLst>
              </a:custGeom>
              <a:solidFill>
                <a:srgbClr val="D1EFE4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63219" cy="863219"/>
              </a:xfrm>
              <a:custGeom>
                <a:avLst/>
                <a:gdLst/>
                <a:ahLst/>
                <a:cxnLst/>
                <a:rect r="r" b="b" t="t" l="l"/>
                <a:pathLst>
                  <a:path h="863219" w="863219">
                    <a:moveTo>
                      <a:pt x="0" y="346583"/>
                    </a:moveTo>
                    <a:cubicBezTo>
                      <a:pt x="0" y="155194"/>
                      <a:pt x="155194" y="0"/>
                      <a:pt x="346583" y="0"/>
                    </a:cubicBezTo>
                    <a:lnTo>
                      <a:pt x="516636" y="0"/>
                    </a:lnTo>
                    <a:lnTo>
                      <a:pt x="516636" y="6350"/>
                    </a:lnTo>
                    <a:lnTo>
                      <a:pt x="516636" y="0"/>
                    </a:lnTo>
                    <a:lnTo>
                      <a:pt x="516636" y="6350"/>
                    </a:lnTo>
                    <a:lnTo>
                      <a:pt x="516636" y="0"/>
                    </a:lnTo>
                    <a:cubicBezTo>
                      <a:pt x="708025" y="0"/>
                      <a:pt x="863219" y="155194"/>
                      <a:pt x="863219" y="346583"/>
                    </a:cubicBezTo>
                    <a:lnTo>
                      <a:pt x="856869" y="346583"/>
                    </a:lnTo>
                    <a:lnTo>
                      <a:pt x="863219" y="346583"/>
                    </a:lnTo>
                    <a:lnTo>
                      <a:pt x="863219" y="516636"/>
                    </a:lnTo>
                    <a:lnTo>
                      <a:pt x="856869" y="516636"/>
                    </a:lnTo>
                    <a:lnTo>
                      <a:pt x="863219" y="516636"/>
                    </a:lnTo>
                    <a:cubicBezTo>
                      <a:pt x="863219" y="708025"/>
                      <a:pt x="708025" y="863219"/>
                      <a:pt x="516636" y="863219"/>
                    </a:cubicBezTo>
                    <a:lnTo>
                      <a:pt x="516636" y="856869"/>
                    </a:lnTo>
                    <a:lnTo>
                      <a:pt x="516636" y="863219"/>
                    </a:lnTo>
                    <a:lnTo>
                      <a:pt x="346583" y="863219"/>
                    </a:lnTo>
                    <a:lnTo>
                      <a:pt x="346583" y="856869"/>
                    </a:lnTo>
                    <a:lnTo>
                      <a:pt x="346583" y="863219"/>
                    </a:lnTo>
                    <a:cubicBezTo>
                      <a:pt x="155194" y="863219"/>
                      <a:pt x="0" y="708025"/>
                      <a:pt x="0" y="516636"/>
                    </a:cubicBezTo>
                    <a:lnTo>
                      <a:pt x="0" y="346583"/>
                    </a:lnTo>
                    <a:lnTo>
                      <a:pt x="6350" y="346583"/>
                    </a:lnTo>
                    <a:lnTo>
                      <a:pt x="0" y="346583"/>
                    </a:lnTo>
                    <a:moveTo>
                      <a:pt x="12700" y="346583"/>
                    </a:moveTo>
                    <a:lnTo>
                      <a:pt x="12700" y="516636"/>
                    </a:lnTo>
                    <a:lnTo>
                      <a:pt x="6350" y="516636"/>
                    </a:lnTo>
                    <a:lnTo>
                      <a:pt x="12700" y="516636"/>
                    </a:lnTo>
                    <a:cubicBezTo>
                      <a:pt x="12700" y="701040"/>
                      <a:pt x="162179" y="850519"/>
                      <a:pt x="346583" y="850519"/>
                    </a:cubicBezTo>
                    <a:lnTo>
                      <a:pt x="516636" y="850519"/>
                    </a:lnTo>
                    <a:cubicBezTo>
                      <a:pt x="701040" y="850519"/>
                      <a:pt x="850519" y="701040"/>
                      <a:pt x="850519" y="516636"/>
                    </a:cubicBezTo>
                    <a:lnTo>
                      <a:pt x="850519" y="346583"/>
                    </a:lnTo>
                    <a:cubicBezTo>
                      <a:pt x="850519" y="162179"/>
                      <a:pt x="701040" y="12700"/>
                      <a:pt x="516636" y="12700"/>
                    </a:cubicBezTo>
                    <a:lnTo>
                      <a:pt x="346583" y="12700"/>
                    </a:lnTo>
                    <a:lnTo>
                      <a:pt x="346583" y="6350"/>
                    </a:lnTo>
                    <a:lnTo>
                      <a:pt x="346583" y="12700"/>
                    </a:lnTo>
                    <a:cubicBezTo>
                      <a:pt x="162179" y="12700"/>
                      <a:pt x="12700" y="162179"/>
                      <a:pt x="12700" y="346583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8133" y="77191"/>
              <a:ext cx="566941" cy="708812"/>
              <a:chOff x="0" y="0"/>
              <a:chExt cx="566941" cy="70881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66937" cy="708818"/>
              </a:xfrm>
              <a:custGeom>
                <a:avLst/>
                <a:gdLst/>
                <a:ahLst/>
                <a:cxnLst/>
                <a:rect r="r" b="b" t="t" l="l"/>
                <a:pathLst>
                  <a:path h="708818" w="566937">
                    <a:moveTo>
                      <a:pt x="0" y="0"/>
                    </a:moveTo>
                    <a:lnTo>
                      <a:pt x="566937" y="0"/>
                    </a:lnTo>
                    <a:lnTo>
                      <a:pt x="566937" y="708818"/>
                    </a:lnTo>
                    <a:lnTo>
                      <a:pt x="0" y="70881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10411" t="0" r="-110411" b="0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57150"/>
                <a:ext cx="566941" cy="6516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12"/>
                  </a:lnSpc>
                </a:pPr>
                <a:r>
                  <a:rPr lang="en-US" sz="3312" b="true">
                    <a:solidFill>
                      <a:srgbClr val="4B4A4A"/>
                    </a:solidFill>
                    <a:latin typeface="Noto Serif Bold"/>
                    <a:ea typeface="Noto Serif Bold"/>
                    <a:cs typeface="Noto Serif Bold"/>
                    <a:sym typeface="Noto Serif Bold"/>
                  </a:rPr>
                  <a:t>2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6733423" y="6302273"/>
            <a:ext cx="4276877" cy="1966322"/>
            <a:chOff x="0" y="0"/>
            <a:chExt cx="5702503" cy="2621763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702554" cy="2621788"/>
            </a:xfrm>
            <a:custGeom>
              <a:avLst/>
              <a:gdLst/>
              <a:ahLst/>
              <a:cxnLst/>
              <a:rect r="r" b="b" t="t" l="l"/>
              <a:pathLst>
                <a:path h="2621788" w="5702554">
                  <a:moveTo>
                    <a:pt x="0" y="0"/>
                  </a:moveTo>
                  <a:lnTo>
                    <a:pt x="5702554" y="0"/>
                  </a:lnTo>
                  <a:lnTo>
                    <a:pt x="5702554" y="2621788"/>
                  </a:lnTo>
                  <a:lnTo>
                    <a:pt x="0" y="2621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0" b="-2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619434" y="4168710"/>
            <a:ext cx="647405" cy="647405"/>
            <a:chOff x="0" y="0"/>
            <a:chExt cx="863206" cy="86320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3206" cy="863206"/>
              <a:chOff x="0" y="0"/>
              <a:chExt cx="863206" cy="86320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6350" y="6350"/>
                <a:ext cx="850519" cy="850519"/>
              </a:xfrm>
              <a:custGeom>
                <a:avLst/>
                <a:gdLst/>
                <a:ahLst/>
                <a:cxnLst/>
                <a:rect r="r" b="b" t="t" l="l"/>
                <a:pathLst>
                  <a:path h="850519" w="850519">
                    <a:moveTo>
                      <a:pt x="0" y="340233"/>
                    </a:moveTo>
                    <a:cubicBezTo>
                      <a:pt x="0" y="152273"/>
                      <a:pt x="152273" y="0"/>
                      <a:pt x="340233" y="0"/>
                    </a:cubicBezTo>
                    <a:lnTo>
                      <a:pt x="510286" y="0"/>
                    </a:lnTo>
                    <a:cubicBezTo>
                      <a:pt x="698246" y="0"/>
                      <a:pt x="850519" y="152273"/>
                      <a:pt x="850519" y="340233"/>
                    </a:cubicBezTo>
                    <a:lnTo>
                      <a:pt x="850519" y="510286"/>
                    </a:lnTo>
                    <a:cubicBezTo>
                      <a:pt x="850519" y="698246"/>
                      <a:pt x="698246" y="850519"/>
                      <a:pt x="510286" y="850519"/>
                    </a:cubicBezTo>
                    <a:lnTo>
                      <a:pt x="340233" y="850519"/>
                    </a:lnTo>
                    <a:cubicBezTo>
                      <a:pt x="152273" y="850519"/>
                      <a:pt x="0" y="698119"/>
                      <a:pt x="0" y="510286"/>
                    </a:cubicBezTo>
                    <a:close/>
                  </a:path>
                </a:pathLst>
              </a:custGeom>
              <a:solidFill>
                <a:srgbClr val="D1EFE4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63219" cy="863219"/>
              </a:xfrm>
              <a:custGeom>
                <a:avLst/>
                <a:gdLst/>
                <a:ahLst/>
                <a:cxnLst/>
                <a:rect r="r" b="b" t="t" l="l"/>
                <a:pathLst>
                  <a:path h="863219" w="863219">
                    <a:moveTo>
                      <a:pt x="0" y="346583"/>
                    </a:moveTo>
                    <a:cubicBezTo>
                      <a:pt x="0" y="155194"/>
                      <a:pt x="155194" y="0"/>
                      <a:pt x="346583" y="0"/>
                    </a:cubicBezTo>
                    <a:lnTo>
                      <a:pt x="516636" y="0"/>
                    </a:lnTo>
                    <a:lnTo>
                      <a:pt x="516636" y="6350"/>
                    </a:lnTo>
                    <a:lnTo>
                      <a:pt x="516636" y="0"/>
                    </a:lnTo>
                    <a:lnTo>
                      <a:pt x="516636" y="6350"/>
                    </a:lnTo>
                    <a:lnTo>
                      <a:pt x="516636" y="0"/>
                    </a:lnTo>
                    <a:cubicBezTo>
                      <a:pt x="708025" y="0"/>
                      <a:pt x="863219" y="155194"/>
                      <a:pt x="863219" y="346583"/>
                    </a:cubicBezTo>
                    <a:lnTo>
                      <a:pt x="856869" y="346583"/>
                    </a:lnTo>
                    <a:lnTo>
                      <a:pt x="863219" y="346583"/>
                    </a:lnTo>
                    <a:lnTo>
                      <a:pt x="863219" y="516636"/>
                    </a:lnTo>
                    <a:lnTo>
                      <a:pt x="856869" y="516636"/>
                    </a:lnTo>
                    <a:lnTo>
                      <a:pt x="863219" y="516636"/>
                    </a:lnTo>
                    <a:cubicBezTo>
                      <a:pt x="863219" y="708025"/>
                      <a:pt x="708025" y="863219"/>
                      <a:pt x="516636" y="863219"/>
                    </a:cubicBezTo>
                    <a:lnTo>
                      <a:pt x="516636" y="856869"/>
                    </a:lnTo>
                    <a:lnTo>
                      <a:pt x="516636" y="863219"/>
                    </a:lnTo>
                    <a:lnTo>
                      <a:pt x="346583" y="863219"/>
                    </a:lnTo>
                    <a:lnTo>
                      <a:pt x="346583" y="856869"/>
                    </a:lnTo>
                    <a:lnTo>
                      <a:pt x="346583" y="863219"/>
                    </a:lnTo>
                    <a:cubicBezTo>
                      <a:pt x="155194" y="863219"/>
                      <a:pt x="0" y="708025"/>
                      <a:pt x="0" y="516636"/>
                    </a:cubicBezTo>
                    <a:lnTo>
                      <a:pt x="0" y="346583"/>
                    </a:lnTo>
                    <a:lnTo>
                      <a:pt x="6350" y="346583"/>
                    </a:lnTo>
                    <a:lnTo>
                      <a:pt x="0" y="346583"/>
                    </a:lnTo>
                    <a:moveTo>
                      <a:pt x="12700" y="346583"/>
                    </a:moveTo>
                    <a:lnTo>
                      <a:pt x="12700" y="516636"/>
                    </a:lnTo>
                    <a:lnTo>
                      <a:pt x="6350" y="516636"/>
                    </a:lnTo>
                    <a:lnTo>
                      <a:pt x="12700" y="516636"/>
                    </a:lnTo>
                    <a:cubicBezTo>
                      <a:pt x="12700" y="701040"/>
                      <a:pt x="162179" y="850519"/>
                      <a:pt x="346583" y="850519"/>
                    </a:cubicBezTo>
                    <a:lnTo>
                      <a:pt x="516636" y="850519"/>
                    </a:lnTo>
                    <a:cubicBezTo>
                      <a:pt x="701040" y="850519"/>
                      <a:pt x="850519" y="701040"/>
                      <a:pt x="850519" y="516636"/>
                    </a:cubicBezTo>
                    <a:lnTo>
                      <a:pt x="850519" y="346583"/>
                    </a:lnTo>
                    <a:cubicBezTo>
                      <a:pt x="850519" y="162179"/>
                      <a:pt x="701040" y="12700"/>
                      <a:pt x="516636" y="12700"/>
                    </a:cubicBezTo>
                    <a:lnTo>
                      <a:pt x="346583" y="12700"/>
                    </a:lnTo>
                    <a:lnTo>
                      <a:pt x="346583" y="6350"/>
                    </a:lnTo>
                    <a:lnTo>
                      <a:pt x="346583" y="12700"/>
                    </a:lnTo>
                    <a:cubicBezTo>
                      <a:pt x="162179" y="12700"/>
                      <a:pt x="12700" y="162179"/>
                      <a:pt x="12700" y="346583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2733" y="77191"/>
              <a:ext cx="566941" cy="708812"/>
              <a:chOff x="0" y="0"/>
              <a:chExt cx="566941" cy="70881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66937" cy="708818"/>
              </a:xfrm>
              <a:custGeom>
                <a:avLst/>
                <a:gdLst/>
                <a:ahLst/>
                <a:cxnLst/>
                <a:rect r="r" b="b" t="t" l="l"/>
                <a:pathLst>
                  <a:path h="708818" w="566937">
                    <a:moveTo>
                      <a:pt x="0" y="0"/>
                    </a:moveTo>
                    <a:lnTo>
                      <a:pt x="566937" y="0"/>
                    </a:lnTo>
                    <a:lnTo>
                      <a:pt x="566937" y="708818"/>
                    </a:lnTo>
                    <a:lnTo>
                      <a:pt x="0" y="70881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10411" t="0" r="-110411" b="0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57150"/>
                <a:ext cx="566941" cy="6516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12"/>
                  </a:lnSpc>
                </a:pPr>
                <a:r>
                  <a:rPr lang="en-US" sz="3312" b="true">
                    <a:solidFill>
                      <a:srgbClr val="4B4A4A"/>
                    </a:solidFill>
                    <a:latin typeface="Noto Serif Bold"/>
                    <a:ea typeface="Noto Serif Bold"/>
                    <a:cs typeface="Noto Serif Bold"/>
                    <a:sym typeface="Noto Serif Bold"/>
                  </a:rPr>
                  <a:t>3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3018884" y="6526559"/>
            <a:ext cx="4276877" cy="1557042"/>
            <a:chOff x="0" y="0"/>
            <a:chExt cx="5702503" cy="2076056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702554" cy="2076069"/>
            </a:xfrm>
            <a:custGeom>
              <a:avLst/>
              <a:gdLst/>
              <a:ahLst/>
              <a:cxnLst/>
              <a:rect r="r" b="b" t="t" l="l"/>
              <a:pathLst>
                <a:path h="2076069" w="5702554">
                  <a:moveTo>
                    <a:pt x="0" y="0"/>
                  </a:moveTo>
                  <a:lnTo>
                    <a:pt x="5702554" y="0"/>
                  </a:lnTo>
                  <a:lnTo>
                    <a:pt x="5702554" y="2076069"/>
                  </a:lnTo>
                  <a:lnTo>
                    <a:pt x="0" y="2076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2" r="0" b="-51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791528" y="3968801"/>
            <a:ext cx="5291375" cy="1694628"/>
          </a:xfrm>
          <a:custGeom>
            <a:avLst/>
            <a:gdLst/>
            <a:ahLst/>
            <a:cxnLst/>
            <a:rect r="r" b="b" t="t" l="l"/>
            <a:pathLst>
              <a:path h="1694628" w="5291375">
                <a:moveTo>
                  <a:pt x="0" y="0"/>
                </a:moveTo>
                <a:lnTo>
                  <a:pt x="5291375" y="0"/>
                </a:lnTo>
                <a:lnTo>
                  <a:pt x="5291375" y="1694627"/>
                </a:lnTo>
                <a:lnTo>
                  <a:pt x="0" y="1694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08032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92238" y="1754829"/>
            <a:ext cx="8010077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Methodology &amp; Proofs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1870" y="3235671"/>
            <a:ext cx="1618364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006747"/>
                </a:solidFill>
                <a:latin typeface="Arimo"/>
                <a:ea typeface="Arimo"/>
                <a:cs typeface="Arimo"/>
                <a:sym typeface="Arimo"/>
              </a:rPr>
              <a:t>STEPS TAKEN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13630" y="419502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 Cleaning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13630" y="4712789"/>
            <a:ext cx="4276877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Handling missing values and outliers in the IMD dataset to ensure a reliable demand distribution estimate.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66257" y="419502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Proving Convexity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66257" y="4712789"/>
            <a:ext cx="427687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Shown via Leibniz's Integral Rule, confirming a unique global minimum exists: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09714" y="4195020"/>
            <a:ext cx="427687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Deriving Critical Ratio (CR)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18884" y="5155702"/>
            <a:ext cx="427687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Equating </a:t>
            </a:r>
            <a:r>
              <a:rPr lang="en-US" sz="21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G'(Q) = 0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yields the optimal service level: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791528" y="5388026"/>
            <a:ext cx="5291375" cy="1299948"/>
          </a:xfrm>
          <a:custGeom>
            <a:avLst/>
            <a:gdLst/>
            <a:ahLst/>
            <a:cxnLst/>
            <a:rect r="r" b="b" t="t" l="l"/>
            <a:pathLst>
              <a:path h="1299948" w="5291375">
                <a:moveTo>
                  <a:pt x="0" y="0"/>
                </a:moveTo>
                <a:lnTo>
                  <a:pt x="5291375" y="0"/>
                </a:lnTo>
                <a:lnTo>
                  <a:pt x="5291375" y="1299948"/>
                </a:lnTo>
                <a:lnTo>
                  <a:pt x="0" y="129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71193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6733423" y="6312394"/>
            <a:ext cx="4276877" cy="1966322"/>
            <a:chOff x="0" y="0"/>
            <a:chExt cx="5702503" cy="2621763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5702554" cy="2621788"/>
            </a:xfrm>
            <a:custGeom>
              <a:avLst/>
              <a:gdLst/>
              <a:ahLst/>
              <a:cxnLst/>
              <a:rect r="r" b="b" t="t" l="l"/>
              <a:pathLst>
                <a:path h="2621788" w="5702554">
                  <a:moveTo>
                    <a:pt x="0" y="0"/>
                  </a:moveTo>
                  <a:lnTo>
                    <a:pt x="5702554" y="0"/>
                  </a:lnTo>
                  <a:lnTo>
                    <a:pt x="5702554" y="2621788"/>
                  </a:lnTo>
                  <a:lnTo>
                    <a:pt x="0" y="2621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0" b="-2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18884" y="6526559"/>
            <a:ext cx="4276877" cy="1557042"/>
            <a:chOff x="0" y="0"/>
            <a:chExt cx="5702503" cy="2076056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702554" cy="2076069"/>
            </a:xfrm>
            <a:custGeom>
              <a:avLst/>
              <a:gdLst/>
              <a:ahLst/>
              <a:cxnLst/>
              <a:rect r="r" b="b" t="t" l="l"/>
              <a:pathLst>
                <a:path h="2076069" w="5702554">
                  <a:moveTo>
                    <a:pt x="0" y="0"/>
                  </a:moveTo>
                  <a:lnTo>
                    <a:pt x="5702554" y="0"/>
                  </a:lnTo>
                  <a:lnTo>
                    <a:pt x="5702554" y="2076069"/>
                  </a:lnTo>
                  <a:lnTo>
                    <a:pt x="0" y="2076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2" r="0" b="-51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6334705" y="3883793"/>
            <a:ext cx="5408430" cy="1732116"/>
          </a:xfrm>
          <a:custGeom>
            <a:avLst/>
            <a:gdLst/>
            <a:ahLst/>
            <a:cxnLst/>
            <a:rect r="r" b="b" t="t" l="l"/>
            <a:pathLst>
              <a:path h="1732116" w="5408430">
                <a:moveTo>
                  <a:pt x="0" y="0"/>
                </a:moveTo>
                <a:lnTo>
                  <a:pt x="5408429" y="0"/>
                </a:lnTo>
                <a:lnTo>
                  <a:pt x="5408429" y="1732116"/>
                </a:lnTo>
                <a:lnTo>
                  <a:pt x="0" y="1732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08032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334705" y="7285434"/>
            <a:ext cx="5408430" cy="1328705"/>
          </a:xfrm>
          <a:custGeom>
            <a:avLst/>
            <a:gdLst/>
            <a:ahLst/>
            <a:cxnLst/>
            <a:rect r="r" b="b" t="t" l="l"/>
            <a:pathLst>
              <a:path h="1328705" w="5408430">
                <a:moveTo>
                  <a:pt x="0" y="0"/>
                </a:moveTo>
                <a:lnTo>
                  <a:pt x="5408429" y="0"/>
                </a:lnTo>
                <a:lnTo>
                  <a:pt x="5408429" y="1328706"/>
                </a:lnTo>
                <a:lnTo>
                  <a:pt x="0" y="132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71193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334705" y="5615909"/>
            <a:ext cx="5408430" cy="1328705"/>
          </a:xfrm>
          <a:custGeom>
            <a:avLst/>
            <a:gdLst/>
            <a:ahLst/>
            <a:cxnLst/>
            <a:rect r="r" b="b" t="t" l="l"/>
            <a:pathLst>
              <a:path h="1328705" w="5408430">
                <a:moveTo>
                  <a:pt x="0" y="0"/>
                </a:moveTo>
                <a:lnTo>
                  <a:pt x="5408429" y="0"/>
                </a:lnTo>
                <a:lnTo>
                  <a:pt x="5408429" y="1328705"/>
                </a:lnTo>
                <a:lnTo>
                  <a:pt x="0" y="1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1536" r="0" b="-79657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334705" y="6066575"/>
            <a:ext cx="5408430" cy="1328705"/>
          </a:xfrm>
          <a:custGeom>
            <a:avLst/>
            <a:gdLst/>
            <a:ahLst/>
            <a:cxnLst/>
            <a:rect r="r" b="b" t="t" l="l"/>
            <a:pathLst>
              <a:path h="1328705" w="5408430">
                <a:moveTo>
                  <a:pt x="0" y="0"/>
                </a:moveTo>
                <a:lnTo>
                  <a:pt x="5408429" y="0"/>
                </a:lnTo>
                <a:lnTo>
                  <a:pt x="5408429" y="1328705"/>
                </a:lnTo>
                <a:lnTo>
                  <a:pt x="0" y="1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1536" r="0" b="-79657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286059" y="7194678"/>
            <a:ext cx="5408430" cy="1328705"/>
          </a:xfrm>
          <a:custGeom>
            <a:avLst/>
            <a:gdLst/>
            <a:ahLst/>
            <a:cxnLst/>
            <a:rect r="r" b="b" t="t" l="l"/>
            <a:pathLst>
              <a:path h="1328705" w="5408430">
                <a:moveTo>
                  <a:pt x="0" y="0"/>
                </a:moveTo>
                <a:lnTo>
                  <a:pt x="5408430" y="0"/>
                </a:lnTo>
                <a:lnTo>
                  <a:pt x="5408430" y="1328705"/>
                </a:lnTo>
                <a:lnTo>
                  <a:pt x="0" y="1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71193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286059" y="5525152"/>
            <a:ext cx="5408430" cy="1328705"/>
          </a:xfrm>
          <a:custGeom>
            <a:avLst/>
            <a:gdLst/>
            <a:ahLst/>
            <a:cxnLst/>
            <a:rect r="r" b="b" t="t" l="l"/>
            <a:pathLst>
              <a:path h="1328705" w="5408430">
                <a:moveTo>
                  <a:pt x="0" y="0"/>
                </a:moveTo>
                <a:lnTo>
                  <a:pt x="5408430" y="0"/>
                </a:lnTo>
                <a:lnTo>
                  <a:pt x="5408430" y="1328705"/>
                </a:lnTo>
                <a:lnTo>
                  <a:pt x="0" y="1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1536" r="0" b="-79657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2286059" y="6104675"/>
            <a:ext cx="5408430" cy="1328705"/>
          </a:xfrm>
          <a:custGeom>
            <a:avLst/>
            <a:gdLst/>
            <a:ahLst/>
            <a:cxnLst/>
            <a:rect r="r" b="b" t="t" l="l"/>
            <a:pathLst>
              <a:path h="1328705" w="5408430">
                <a:moveTo>
                  <a:pt x="0" y="0"/>
                </a:moveTo>
                <a:lnTo>
                  <a:pt x="5408430" y="0"/>
                </a:lnTo>
                <a:lnTo>
                  <a:pt x="5408430" y="1328705"/>
                </a:lnTo>
                <a:lnTo>
                  <a:pt x="0" y="1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1536" r="0" b="-7965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37305" y="851297"/>
            <a:ext cx="9755391" cy="151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Descriptive Statistics &amp; Optimal Solution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37305" y="2668191"/>
            <a:ext cx="1089422" cy="425653"/>
            <a:chOff x="0" y="0"/>
            <a:chExt cx="1452562" cy="5675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52499" cy="567436"/>
            </a:xfrm>
            <a:custGeom>
              <a:avLst/>
              <a:gdLst/>
              <a:ahLst/>
              <a:cxnLst/>
              <a:rect r="r" b="b" t="t" l="l"/>
              <a:pathLst>
                <a:path h="567436" w="1452499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1222883" y="0"/>
                  </a:lnTo>
                  <a:cubicBezTo>
                    <a:pt x="1349756" y="0"/>
                    <a:pt x="1452499" y="102870"/>
                    <a:pt x="1452499" y="229616"/>
                  </a:cubicBezTo>
                  <a:lnTo>
                    <a:pt x="1452499" y="337820"/>
                  </a:lnTo>
                  <a:cubicBezTo>
                    <a:pt x="1452499" y="464693"/>
                    <a:pt x="1349629" y="567436"/>
                    <a:pt x="1222883" y="567436"/>
                  </a:cubicBezTo>
                  <a:lnTo>
                    <a:pt x="229616" y="567436"/>
                  </a:lnTo>
                  <a:cubicBezTo>
                    <a:pt x="102870" y="567563"/>
                    <a:pt x="0" y="464693"/>
                    <a:pt x="0" y="337820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0780" y="2692298"/>
            <a:ext cx="802481" cy="32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7305" y="3564141"/>
            <a:ext cx="4751489" cy="66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1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78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7777" y="4481512"/>
            <a:ext cx="2990402" cy="39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Monsoon Season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7305" y="4919072"/>
            <a:ext cx="4751489" cy="78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Optimal units </a:t>
            </a:r>
            <a:r>
              <a:rPr lang="en-US" sz="1874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Q^*</a:t>
            </a: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during peak rainfall months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1054" y="3564141"/>
            <a:ext cx="4751632" cy="66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1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70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21678" y="4481512"/>
            <a:ext cx="2990402" cy="39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Shoulder Season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1054" y="4919072"/>
            <a:ext cx="4751632" cy="78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Optimal units </a:t>
            </a:r>
            <a:r>
              <a:rPr lang="en-US" sz="1874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Q^*</a:t>
            </a: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during transitional weather periods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39103" y="6347670"/>
            <a:ext cx="4751632" cy="66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1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19727" y="7265041"/>
            <a:ext cx="2990402" cy="39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Dry Season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39103" y="7702601"/>
            <a:ext cx="4751632" cy="42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Optimal units </a:t>
            </a:r>
            <a:r>
              <a:rPr lang="en-US" sz="1874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Q^*</a:t>
            </a: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during low-rainfall months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7305" y="8282283"/>
            <a:ext cx="9755391" cy="113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Mean Demand (</a:t>
            </a:r>
            <a:r>
              <a:rPr lang="en-US" sz="1874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\mu</a:t>
            </a:r>
            <a:r>
              <a:rPr lang="en-US" sz="1874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):</a:t>
            </a: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Variable by season — Monsoon peak vs. Summer low. </a:t>
            </a:r>
            <a:r>
              <a:rPr lang="en-US" sz="1874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Standard Deviation (</a:t>
            </a:r>
            <a:r>
              <a:rPr lang="en-US" sz="1874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\sigma</a:t>
            </a:r>
            <a:r>
              <a:rPr lang="en-US" sz="1874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):</a:t>
            </a: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Reflects weather volatility across the year. These seasonal </a:t>
            </a:r>
            <a:r>
              <a:rPr lang="en-US" sz="1874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Q^*</a:t>
            </a: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values are derived from the critical ratio </a:t>
            </a:r>
            <a:r>
              <a:rPr lang="en-US" sz="1874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F(Q^*) = 0.583</a:t>
            </a: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applied to each season's demand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71764" y="1476080"/>
            <a:ext cx="3234805" cy="576281"/>
            <a:chOff x="0" y="0"/>
            <a:chExt cx="2733472" cy="4869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3421" cy="486918"/>
            </a:xfrm>
            <a:custGeom>
              <a:avLst/>
              <a:gdLst/>
              <a:ahLst/>
              <a:cxnLst/>
              <a:rect r="r" b="b" t="t" l="l"/>
              <a:pathLst>
                <a:path h="486918" w="2733421">
                  <a:moveTo>
                    <a:pt x="0" y="197739"/>
                  </a:moveTo>
                  <a:cubicBezTo>
                    <a:pt x="0" y="88392"/>
                    <a:pt x="90551" y="0"/>
                    <a:pt x="201930" y="0"/>
                  </a:cubicBezTo>
                  <a:lnTo>
                    <a:pt x="2531491" y="0"/>
                  </a:lnTo>
                  <a:lnTo>
                    <a:pt x="2531491" y="6350"/>
                  </a:lnTo>
                  <a:lnTo>
                    <a:pt x="2531491" y="0"/>
                  </a:lnTo>
                  <a:cubicBezTo>
                    <a:pt x="2642870" y="0"/>
                    <a:pt x="2733421" y="88392"/>
                    <a:pt x="2733421" y="197739"/>
                  </a:cubicBezTo>
                  <a:lnTo>
                    <a:pt x="2727071" y="197739"/>
                  </a:lnTo>
                  <a:lnTo>
                    <a:pt x="2733421" y="197739"/>
                  </a:lnTo>
                  <a:lnTo>
                    <a:pt x="2733421" y="289179"/>
                  </a:lnTo>
                  <a:lnTo>
                    <a:pt x="2727071" y="289179"/>
                  </a:lnTo>
                  <a:lnTo>
                    <a:pt x="2733421" y="289179"/>
                  </a:lnTo>
                  <a:cubicBezTo>
                    <a:pt x="2733421" y="398526"/>
                    <a:pt x="2642870" y="486918"/>
                    <a:pt x="2531491" y="486918"/>
                  </a:cubicBezTo>
                  <a:lnTo>
                    <a:pt x="2531491" y="480568"/>
                  </a:lnTo>
                  <a:lnTo>
                    <a:pt x="2531491" y="486918"/>
                  </a:lnTo>
                  <a:lnTo>
                    <a:pt x="201930" y="486918"/>
                  </a:lnTo>
                  <a:lnTo>
                    <a:pt x="201930" y="480568"/>
                  </a:lnTo>
                  <a:lnTo>
                    <a:pt x="201930" y="486918"/>
                  </a:lnTo>
                  <a:cubicBezTo>
                    <a:pt x="90551" y="486918"/>
                    <a:pt x="0" y="398526"/>
                    <a:pt x="0" y="289179"/>
                  </a:cubicBezTo>
                  <a:lnTo>
                    <a:pt x="0" y="197739"/>
                  </a:lnTo>
                  <a:lnTo>
                    <a:pt x="6350" y="197739"/>
                  </a:lnTo>
                  <a:lnTo>
                    <a:pt x="0" y="197739"/>
                  </a:lnTo>
                  <a:moveTo>
                    <a:pt x="12700" y="197739"/>
                  </a:moveTo>
                  <a:lnTo>
                    <a:pt x="12700" y="289179"/>
                  </a:lnTo>
                  <a:lnTo>
                    <a:pt x="6350" y="289179"/>
                  </a:lnTo>
                  <a:lnTo>
                    <a:pt x="12700" y="289179"/>
                  </a:lnTo>
                  <a:cubicBezTo>
                    <a:pt x="12700" y="391287"/>
                    <a:pt x="97282" y="474218"/>
                    <a:pt x="201930" y="474218"/>
                  </a:cubicBezTo>
                  <a:lnTo>
                    <a:pt x="2531491" y="474218"/>
                  </a:lnTo>
                  <a:cubicBezTo>
                    <a:pt x="2636139" y="474218"/>
                    <a:pt x="2720721" y="391287"/>
                    <a:pt x="2720721" y="289179"/>
                  </a:cubicBezTo>
                  <a:lnTo>
                    <a:pt x="2720721" y="197739"/>
                  </a:lnTo>
                  <a:cubicBezTo>
                    <a:pt x="2720721" y="95631"/>
                    <a:pt x="2636139" y="12700"/>
                    <a:pt x="2531491" y="12700"/>
                  </a:cubicBezTo>
                  <a:lnTo>
                    <a:pt x="201930" y="12700"/>
                  </a:lnTo>
                  <a:lnTo>
                    <a:pt x="201930" y="6350"/>
                  </a:lnTo>
                  <a:lnTo>
                    <a:pt x="201930" y="12700"/>
                  </a:lnTo>
                  <a:cubicBezTo>
                    <a:pt x="97282" y="12700"/>
                    <a:pt x="12700" y="95631"/>
                    <a:pt x="12700" y="197739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923066" y="5055165"/>
            <a:ext cx="7647654" cy="4588593"/>
          </a:xfrm>
          <a:custGeom>
            <a:avLst/>
            <a:gdLst/>
            <a:ahLst/>
            <a:cxnLst/>
            <a:rect r="r" b="b" t="t" l="l"/>
            <a:pathLst>
              <a:path h="4588593" w="7647654">
                <a:moveTo>
                  <a:pt x="0" y="0"/>
                </a:moveTo>
                <a:lnTo>
                  <a:pt x="7647654" y="0"/>
                </a:lnTo>
                <a:lnTo>
                  <a:pt x="7647654" y="4588593"/>
                </a:lnTo>
                <a:lnTo>
                  <a:pt x="0" y="458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21109" y="94087"/>
            <a:ext cx="7838191" cy="4702914"/>
          </a:xfrm>
          <a:custGeom>
            <a:avLst/>
            <a:gdLst/>
            <a:ahLst/>
            <a:cxnLst/>
            <a:rect r="r" b="b" t="t" l="l"/>
            <a:pathLst>
              <a:path h="4702914" w="7838191">
                <a:moveTo>
                  <a:pt x="0" y="0"/>
                </a:moveTo>
                <a:lnTo>
                  <a:pt x="7838191" y="0"/>
                </a:lnTo>
                <a:lnTo>
                  <a:pt x="7838191" y="4702914"/>
                </a:lnTo>
                <a:lnTo>
                  <a:pt x="0" y="4702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5916" y="256864"/>
            <a:ext cx="9508610" cy="121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75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Computational Implementation &amp;</a:t>
            </a:r>
          </a:p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Visualization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05562" y="1612001"/>
            <a:ext cx="3101007" cy="3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888">
                <a:solidFill>
                  <a:srgbClr val="3A6AB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FUNCTIONS AND PLOTS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3909" y="2033311"/>
            <a:ext cx="2491978" cy="33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Key Functions Used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45916" y="2431007"/>
            <a:ext cx="6216642" cy="2270923"/>
            <a:chOff x="0" y="0"/>
            <a:chExt cx="8288856" cy="302789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288856" cy="3027897"/>
              <a:chOff x="0" y="0"/>
              <a:chExt cx="7365009" cy="269041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9050" y="19050"/>
                <a:ext cx="7326885" cy="2652395"/>
              </a:xfrm>
              <a:custGeom>
                <a:avLst/>
                <a:gdLst/>
                <a:ahLst/>
                <a:cxnLst/>
                <a:rect r="r" b="b" t="t" l="l"/>
                <a:pathLst>
                  <a:path h="2652395" w="7326885">
                    <a:moveTo>
                      <a:pt x="0" y="239268"/>
                    </a:moveTo>
                    <a:cubicBezTo>
                      <a:pt x="0" y="107061"/>
                      <a:pt x="108077" y="0"/>
                      <a:pt x="241427" y="0"/>
                    </a:cubicBezTo>
                    <a:lnTo>
                      <a:pt x="7085457" y="0"/>
                    </a:lnTo>
                    <a:cubicBezTo>
                      <a:pt x="7218807" y="0"/>
                      <a:pt x="7326885" y="107061"/>
                      <a:pt x="7326885" y="239268"/>
                    </a:cubicBezTo>
                    <a:lnTo>
                      <a:pt x="7326885" y="2413127"/>
                    </a:lnTo>
                    <a:cubicBezTo>
                      <a:pt x="7326885" y="2545207"/>
                      <a:pt x="7218807" y="2652395"/>
                      <a:pt x="7085457" y="2652395"/>
                    </a:cubicBezTo>
                    <a:lnTo>
                      <a:pt x="241427" y="2652395"/>
                    </a:lnTo>
                    <a:cubicBezTo>
                      <a:pt x="108077" y="2652395"/>
                      <a:pt x="0" y="2545334"/>
                      <a:pt x="0" y="2413127"/>
                    </a:cubicBezTo>
                    <a:close/>
                  </a:path>
                </a:pathLst>
              </a:custGeom>
              <a:solidFill>
                <a:srgbClr val="E5F9F2">
                  <a:alpha val="90196"/>
                </a:srgbClr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364985" cy="2690495"/>
              </a:xfrm>
              <a:custGeom>
                <a:avLst/>
                <a:gdLst/>
                <a:ahLst/>
                <a:cxnLst/>
                <a:rect r="r" b="b" t="t" l="l"/>
                <a:pathLst>
                  <a:path h="2690495" w="7364985">
                    <a:moveTo>
                      <a:pt x="0" y="258318"/>
                    </a:moveTo>
                    <a:cubicBezTo>
                      <a:pt x="0" y="115443"/>
                      <a:pt x="116840" y="0"/>
                      <a:pt x="260477" y="0"/>
                    </a:cubicBezTo>
                    <a:lnTo>
                      <a:pt x="7104507" y="0"/>
                    </a:lnTo>
                    <a:lnTo>
                      <a:pt x="7104507" y="19050"/>
                    </a:lnTo>
                    <a:lnTo>
                      <a:pt x="7104507" y="0"/>
                    </a:lnTo>
                    <a:cubicBezTo>
                      <a:pt x="7248144" y="0"/>
                      <a:pt x="7364985" y="115443"/>
                      <a:pt x="7364985" y="258318"/>
                    </a:cubicBezTo>
                    <a:lnTo>
                      <a:pt x="7345935" y="258318"/>
                    </a:lnTo>
                    <a:lnTo>
                      <a:pt x="7364985" y="258318"/>
                    </a:lnTo>
                    <a:lnTo>
                      <a:pt x="7364985" y="2432177"/>
                    </a:lnTo>
                    <a:lnTo>
                      <a:pt x="7345935" y="2432177"/>
                    </a:lnTo>
                    <a:lnTo>
                      <a:pt x="7364985" y="2432177"/>
                    </a:lnTo>
                    <a:cubicBezTo>
                      <a:pt x="7364985" y="2575052"/>
                      <a:pt x="7248144" y="2690495"/>
                      <a:pt x="7104507" y="2690495"/>
                    </a:cubicBezTo>
                    <a:lnTo>
                      <a:pt x="7104507" y="2671445"/>
                    </a:lnTo>
                    <a:lnTo>
                      <a:pt x="7104507" y="2690495"/>
                    </a:lnTo>
                    <a:lnTo>
                      <a:pt x="260477" y="2690495"/>
                    </a:lnTo>
                    <a:lnTo>
                      <a:pt x="260477" y="2671445"/>
                    </a:lnTo>
                    <a:lnTo>
                      <a:pt x="260477" y="2690495"/>
                    </a:lnTo>
                    <a:cubicBezTo>
                      <a:pt x="116840" y="2690368"/>
                      <a:pt x="0" y="2574925"/>
                      <a:pt x="0" y="2432177"/>
                    </a:cubicBezTo>
                    <a:lnTo>
                      <a:pt x="0" y="258318"/>
                    </a:lnTo>
                    <a:lnTo>
                      <a:pt x="19050" y="258318"/>
                    </a:lnTo>
                    <a:lnTo>
                      <a:pt x="0" y="258318"/>
                    </a:lnTo>
                    <a:moveTo>
                      <a:pt x="38100" y="258318"/>
                    </a:moveTo>
                    <a:lnTo>
                      <a:pt x="38100" y="2432177"/>
                    </a:lnTo>
                    <a:lnTo>
                      <a:pt x="19050" y="2432177"/>
                    </a:lnTo>
                    <a:lnTo>
                      <a:pt x="38100" y="2432177"/>
                    </a:lnTo>
                    <a:cubicBezTo>
                      <a:pt x="38100" y="2553589"/>
                      <a:pt x="137541" y="2652395"/>
                      <a:pt x="260477" y="2652395"/>
                    </a:cubicBezTo>
                    <a:lnTo>
                      <a:pt x="7104507" y="2652395"/>
                    </a:lnTo>
                    <a:cubicBezTo>
                      <a:pt x="7227443" y="2652395"/>
                      <a:pt x="7326885" y="2553589"/>
                      <a:pt x="7326885" y="2432177"/>
                    </a:cubicBezTo>
                    <a:lnTo>
                      <a:pt x="7326885" y="258318"/>
                    </a:lnTo>
                    <a:cubicBezTo>
                      <a:pt x="7326884" y="136906"/>
                      <a:pt x="7227570" y="38100"/>
                      <a:pt x="7104507" y="38100"/>
                    </a:cubicBezTo>
                    <a:lnTo>
                      <a:pt x="260477" y="38100"/>
                    </a:lnTo>
                    <a:lnTo>
                      <a:pt x="260477" y="19050"/>
                    </a:lnTo>
                    <a:lnTo>
                      <a:pt x="260477" y="38100"/>
                    </a:lnTo>
                    <a:cubicBezTo>
                      <a:pt x="137541" y="38100"/>
                      <a:pt x="38100" y="136906"/>
                      <a:pt x="38100" y="258318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64319" y="64319"/>
              <a:ext cx="8160218" cy="897332"/>
              <a:chOff x="0" y="0"/>
              <a:chExt cx="7250709" cy="79731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250684" cy="797306"/>
              </a:xfrm>
              <a:custGeom>
                <a:avLst/>
                <a:gdLst/>
                <a:ahLst/>
                <a:cxnLst/>
                <a:rect r="r" b="b" t="t" l="l"/>
                <a:pathLst>
                  <a:path h="797306" w="7250684">
                    <a:moveTo>
                      <a:pt x="0" y="193548"/>
                    </a:moveTo>
                    <a:cubicBezTo>
                      <a:pt x="0" y="86614"/>
                      <a:pt x="86614" y="0"/>
                      <a:pt x="193548" y="0"/>
                    </a:cubicBezTo>
                    <a:lnTo>
                      <a:pt x="7057136" y="0"/>
                    </a:lnTo>
                    <a:cubicBezTo>
                      <a:pt x="7164070" y="0"/>
                      <a:pt x="7250684" y="86614"/>
                      <a:pt x="7250684" y="193548"/>
                    </a:cubicBezTo>
                    <a:lnTo>
                      <a:pt x="7250684" y="603758"/>
                    </a:lnTo>
                    <a:cubicBezTo>
                      <a:pt x="7250684" y="710692"/>
                      <a:pt x="7164070" y="797306"/>
                      <a:pt x="7057136" y="797306"/>
                    </a:cubicBezTo>
                    <a:lnTo>
                      <a:pt x="193548" y="797306"/>
                    </a:lnTo>
                    <a:cubicBezTo>
                      <a:pt x="86614" y="797306"/>
                      <a:pt x="0" y="710692"/>
                      <a:pt x="0" y="603758"/>
                    </a:cubicBezTo>
                    <a:close/>
                  </a:path>
                </a:pathLst>
              </a:custGeom>
              <a:solidFill>
                <a:srgbClr val="D1EFE4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3920098" y="225330"/>
              <a:ext cx="448673" cy="560774"/>
              <a:chOff x="0" y="0"/>
              <a:chExt cx="398666" cy="4982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8662" cy="498277"/>
              </a:xfrm>
              <a:custGeom>
                <a:avLst/>
                <a:gdLst/>
                <a:ahLst/>
                <a:cxnLst/>
                <a:rect r="r" b="b" t="t" l="l"/>
                <a:pathLst>
                  <a:path h="498277" w="398662">
                    <a:moveTo>
                      <a:pt x="0" y="0"/>
                    </a:moveTo>
                    <a:lnTo>
                      <a:pt x="398662" y="0"/>
                    </a:lnTo>
                    <a:lnTo>
                      <a:pt x="398662" y="498277"/>
                    </a:lnTo>
                    <a:lnTo>
                      <a:pt x="0" y="49827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10361" t="0" r="-110362" b="0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38100"/>
                <a:ext cx="398666" cy="4601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12"/>
                  </a:lnSpc>
                </a:pPr>
                <a:r>
                  <a:rPr lang="en-US" sz="2312" b="true">
                    <a:solidFill>
                      <a:srgbClr val="4B4A4A"/>
                    </a:solidFill>
                    <a:latin typeface="Noto Serif Bold"/>
                    <a:ea typeface="Noto Serif Bold"/>
                    <a:cs typeface="Noto Serif Bold"/>
                    <a:sym typeface="Noto Serif Bold"/>
                  </a:rPr>
                  <a:t>1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63358" y="1162277"/>
              <a:ext cx="4025724" cy="476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3"/>
                </a:lnSpc>
              </a:pPr>
              <a:r>
                <a:rPr lang="en-US" sz="2180" b="true">
                  <a:solidFill>
                    <a:srgbClr val="4B4A4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optimize_inventory()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63358" y="1801539"/>
              <a:ext cx="7562140" cy="86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1"/>
                </a:lnSpc>
              </a:pPr>
              <a:r>
                <a:rPr lang="en-US" sz="1758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Analytical solver using the Normal CDF to compute </a:t>
              </a:r>
              <a:r>
                <a:rPr lang="en-US" sz="1758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Q^*</a:t>
              </a:r>
              <a:r>
                <a:rPr lang="en-US" sz="1758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 directly from the critical ratio.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5916" y="4797181"/>
            <a:ext cx="6216642" cy="2458060"/>
            <a:chOff x="0" y="0"/>
            <a:chExt cx="8288856" cy="327741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288856" cy="3277413"/>
              <a:chOff x="0" y="0"/>
              <a:chExt cx="6803784" cy="269021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7598" y="19050"/>
                <a:ext cx="6768563" cy="2652141"/>
              </a:xfrm>
              <a:custGeom>
                <a:avLst/>
                <a:gdLst/>
                <a:ahLst/>
                <a:cxnLst/>
                <a:rect r="r" b="b" t="t" l="l"/>
                <a:pathLst>
                  <a:path h="2652141" w="6768563">
                    <a:moveTo>
                      <a:pt x="0" y="239268"/>
                    </a:moveTo>
                    <a:cubicBezTo>
                      <a:pt x="0" y="107061"/>
                      <a:pt x="99842" y="0"/>
                      <a:pt x="223030" y="0"/>
                    </a:cubicBezTo>
                    <a:lnTo>
                      <a:pt x="6545534" y="0"/>
                    </a:lnTo>
                    <a:cubicBezTo>
                      <a:pt x="6668723" y="0"/>
                      <a:pt x="6768564" y="107061"/>
                      <a:pt x="6768564" y="239268"/>
                    </a:cubicBezTo>
                    <a:lnTo>
                      <a:pt x="6768564" y="2412873"/>
                    </a:lnTo>
                    <a:cubicBezTo>
                      <a:pt x="6768564" y="2544953"/>
                      <a:pt x="6668723" y="2652141"/>
                      <a:pt x="6545534" y="2652141"/>
                    </a:cubicBezTo>
                    <a:lnTo>
                      <a:pt x="223030" y="2652141"/>
                    </a:lnTo>
                    <a:cubicBezTo>
                      <a:pt x="99842" y="2652141"/>
                      <a:pt x="0" y="2545080"/>
                      <a:pt x="0" y="2412873"/>
                    </a:cubicBezTo>
                    <a:close/>
                  </a:path>
                </a:pathLst>
              </a:custGeom>
              <a:solidFill>
                <a:srgbClr val="E5F9F2">
                  <a:alpha val="90196"/>
                </a:srgbClr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803760" cy="2690241"/>
              </a:xfrm>
              <a:custGeom>
                <a:avLst/>
                <a:gdLst/>
                <a:ahLst/>
                <a:cxnLst/>
                <a:rect r="r" b="b" t="t" l="l"/>
                <a:pathLst>
                  <a:path h="2690241" w="6803760">
                    <a:moveTo>
                      <a:pt x="0" y="258318"/>
                    </a:moveTo>
                    <a:cubicBezTo>
                      <a:pt x="0" y="115443"/>
                      <a:pt x="107819" y="0"/>
                      <a:pt x="240628" y="0"/>
                    </a:cubicBezTo>
                    <a:lnTo>
                      <a:pt x="6563132" y="0"/>
                    </a:lnTo>
                    <a:lnTo>
                      <a:pt x="6563132" y="19050"/>
                    </a:lnTo>
                    <a:lnTo>
                      <a:pt x="6563132" y="0"/>
                    </a:lnTo>
                    <a:cubicBezTo>
                      <a:pt x="6695824" y="0"/>
                      <a:pt x="6803760" y="115443"/>
                      <a:pt x="6803760" y="258318"/>
                    </a:cubicBezTo>
                    <a:lnTo>
                      <a:pt x="6786162" y="258318"/>
                    </a:lnTo>
                    <a:lnTo>
                      <a:pt x="6803760" y="258318"/>
                    </a:lnTo>
                    <a:lnTo>
                      <a:pt x="6803760" y="2431923"/>
                    </a:lnTo>
                    <a:lnTo>
                      <a:pt x="6786162" y="2431923"/>
                    </a:lnTo>
                    <a:lnTo>
                      <a:pt x="6803760" y="2431923"/>
                    </a:lnTo>
                    <a:cubicBezTo>
                      <a:pt x="6803760" y="2574671"/>
                      <a:pt x="6695941" y="2690241"/>
                      <a:pt x="6563132" y="2690241"/>
                    </a:cubicBezTo>
                    <a:lnTo>
                      <a:pt x="6563132" y="2671191"/>
                    </a:lnTo>
                    <a:lnTo>
                      <a:pt x="6563132" y="2690241"/>
                    </a:lnTo>
                    <a:lnTo>
                      <a:pt x="240628" y="2690241"/>
                    </a:lnTo>
                    <a:lnTo>
                      <a:pt x="240628" y="2671191"/>
                    </a:lnTo>
                    <a:lnTo>
                      <a:pt x="240628" y="2690241"/>
                    </a:lnTo>
                    <a:cubicBezTo>
                      <a:pt x="107819" y="2690241"/>
                      <a:pt x="0" y="2574798"/>
                      <a:pt x="0" y="2431923"/>
                    </a:cubicBezTo>
                    <a:lnTo>
                      <a:pt x="0" y="258318"/>
                    </a:lnTo>
                    <a:lnTo>
                      <a:pt x="17598" y="258318"/>
                    </a:lnTo>
                    <a:lnTo>
                      <a:pt x="0" y="258318"/>
                    </a:lnTo>
                    <a:moveTo>
                      <a:pt x="35197" y="258318"/>
                    </a:moveTo>
                    <a:lnTo>
                      <a:pt x="35197" y="2431923"/>
                    </a:lnTo>
                    <a:lnTo>
                      <a:pt x="17598" y="2431923"/>
                    </a:lnTo>
                    <a:lnTo>
                      <a:pt x="35197" y="2431923"/>
                    </a:lnTo>
                    <a:cubicBezTo>
                      <a:pt x="35197" y="2553335"/>
                      <a:pt x="127060" y="2652141"/>
                      <a:pt x="240628" y="2652141"/>
                    </a:cubicBezTo>
                    <a:lnTo>
                      <a:pt x="6563132" y="2652141"/>
                    </a:lnTo>
                    <a:cubicBezTo>
                      <a:pt x="6676700" y="2652141"/>
                      <a:pt x="6768564" y="2553462"/>
                      <a:pt x="6768564" y="2431923"/>
                    </a:cubicBezTo>
                    <a:lnTo>
                      <a:pt x="6768564" y="258318"/>
                    </a:lnTo>
                    <a:cubicBezTo>
                      <a:pt x="6768564" y="136779"/>
                      <a:pt x="6676817" y="38100"/>
                      <a:pt x="6563132" y="38100"/>
                    </a:cubicBezTo>
                    <a:lnTo>
                      <a:pt x="240628" y="38100"/>
                    </a:lnTo>
                    <a:lnTo>
                      <a:pt x="240628" y="19050"/>
                    </a:lnTo>
                    <a:lnTo>
                      <a:pt x="240628" y="38100"/>
                    </a:lnTo>
                    <a:cubicBezTo>
                      <a:pt x="127060" y="38100"/>
                      <a:pt x="35197" y="136779"/>
                      <a:pt x="35197" y="258318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64319" y="69624"/>
              <a:ext cx="8160218" cy="971351"/>
              <a:chOff x="0" y="0"/>
              <a:chExt cx="6698194" cy="79731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98170" cy="797306"/>
              </a:xfrm>
              <a:custGeom>
                <a:avLst/>
                <a:gdLst/>
                <a:ahLst/>
                <a:cxnLst/>
                <a:rect r="r" b="b" t="t" l="l"/>
                <a:pathLst>
                  <a:path h="797306" w="6698170">
                    <a:moveTo>
                      <a:pt x="0" y="193548"/>
                    </a:moveTo>
                    <a:cubicBezTo>
                      <a:pt x="0" y="86614"/>
                      <a:pt x="80014" y="0"/>
                      <a:pt x="178799" y="0"/>
                    </a:cubicBezTo>
                    <a:lnTo>
                      <a:pt x="6519371" y="0"/>
                    </a:lnTo>
                    <a:cubicBezTo>
                      <a:pt x="6618157" y="0"/>
                      <a:pt x="6698170" y="86614"/>
                      <a:pt x="6698170" y="193548"/>
                    </a:cubicBezTo>
                    <a:lnTo>
                      <a:pt x="6698170" y="603758"/>
                    </a:lnTo>
                    <a:cubicBezTo>
                      <a:pt x="6698170" y="710692"/>
                      <a:pt x="6618157" y="797306"/>
                      <a:pt x="6519371" y="797306"/>
                    </a:cubicBezTo>
                    <a:lnTo>
                      <a:pt x="178799" y="797306"/>
                    </a:lnTo>
                    <a:cubicBezTo>
                      <a:pt x="80014" y="797306"/>
                      <a:pt x="0" y="710692"/>
                      <a:pt x="0" y="603758"/>
                    </a:cubicBezTo>
                    <a:close/>
                  </a:path>
                </a:pathLst>
              </a:custGeom>
              <a:solidFill>
                <a:srgbClr val="D1EFE4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3920098" y="243917"/>
              <a:ext cx="448673" cy="607030"/>
              <a:chOff x="0" y="0"/>
              <a:chExt cx="368287" cy="4982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68283" cy="498277"/>
              </a:xfrm>
              <a:custGeom>
                <a:avLst/>
                <a:gdLst/>
                <a:ahLst/>
                <a:cxnLst/>
                <a:rect r="r" b="b" t="t" l="l"/>
                <a:pathLst>
                  <a:path h="498277" w="368283">
                    <a:moveTo>
                      <a:pt x="0" y="0"/>
                    </a:moveTo>
                    <a:lnTo>
                      <a:pt x="368283" y="0"/>
                    </a:lnTo>
                    <a:lnTo>
                      <a:pt x="368283" y="498277"/>
                    </a:lnTo>
                    <a:lnTo>
                      <a:pt x="0" y="49827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19464" t="0" r="-127714" b="0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38100"/>
                <a:ext cx="368287" cy="4601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12"/>
                  </a:lnSpc>
                </a:pPr>
                <a:r>
                  <a:rPr lang="en-US" sz="2312" b="true">
                    <a:solidFill>
                      <a:srgbClr val="4B4A4A"/>
                    </a:solidFill>
                    <a:latin typeface="Noto Serif Bold"/>
                    <a:ea typeface="Noto Serif Bold"/>
                    <a:cs typeface="Noto Serif Bold"/>
                    <a:sym typeface="Noto Serif Bold"/>
                  </a:rPr>
                  <a:t>2</a:t>
                </a: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63358" y="1258935"/>
              <a:ext cx="3739420" cy="481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9"/>
                </a:lnSpc>
              </a:pPr>
              <a:r>
                <a:rPr lang="en-US" sz="2360" b="true">
                  <a:solidFill>
                    <a:srgbClr val="4B4A4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saa_simulation()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63358" y="1963596"/>
              <a:ext cx="7562140" cy="852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8"/>
                </a:lnSpc>
              </a:pPr>
              <a:r>
                <a:rPr lang="en-US" sz="1903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Sample Average Approximation for numerical validation of the analytical solution.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5916" y="7349461"/>
            <a:ext cx="6216642" cy="2271084"/>
            <a:chOff x="0" y="0"/>
            <a:chExt cx="8288856" cy="302811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8288856" cy="3028112"/>
              <a:chOff x="0" y="0"/>
              <a:chExt cx="7365009" cy="269060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9050" y="19050"/>
                <a:ext cx="7326885" cy="2652522"/>
              </a:xfrm>
              <a:custGeom>
                <a:avLst/>
                <a:gdLst/>
                <a:ahLst/>
                <a:cxnLst/>
                <a:rect r="r" b="b" t="t" l="l"/>
                <a:pathLst>
                  <a:path h="2652522" w="7326885">
                    <a:moveTo>
                      <a:pt x="0" y="239268"/>
                    </a:moveTo>
                    <a:cubicBezTo>
                      <a:pt x="0" y="107061"/>
                      <a:pt x="108077" y="0"/>
                      <a:pt x="241427" y="0"/>
                    </a:cubicBezTo>
                    <a:lnTo>
                      <a:pt x="7085457" y="0"/>
                    </a:lnTo>
                    <a:cubicBezTo>
                      <a:pt x="7218807" y="0"/>
                      <a:pt x="7326885" y="107061"/>
                      <a:pt x="7326885" y="239268"/>
                    </a:cubicBezTo>
                    <a:lnTo>
                      <a:pt x="7326885" y="2413254"/>
                    </a:lnTo>
                    <a:cubicBezTo>
                      <a:pt x="7326885" y="2545334"/>
                      <a:pt x="7218807" y="2652522"/>
                      <a:pt x="7085457" y="2652522"/>
                    </a:cubicBezTo>
                    <a:lnTo>
                      <a:pt x="241427" y="2652522"/>
                    </a:lnTo>
                    <a:cubicBezTo>
                      <a:pt x="108077" y="2652522"/>
                      <a:pt x="0" y="2545461"/>
                      <a:pt x="0" y="2413254"/>
                    </a:cubicBezTo>
                    <a:close/>
                  </a:path>
                </a:pathLst>
              </a:custGeom>
              <a:solidFill>
                <a:srgbClr val="E5F9F2">
                  <a:alpha val="90196"/>
                </a:srgbClr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364985" cy="2690622"/>
              </a:xfrm>
              <a:custGeom>
                <a:avLst/>
                <a:gdLst/>
                <a:ahLst/>
                <a:cxnLst/>
                <a:rect r="r" b="b" t="t" l="l"/>
                <a:pathLst>
                  <a:path h="2690622" w="7364985">
                    <a:moveTo>
                      <a:pt x="0" y="258318"/>
                    </a:moveTo>
                    <a:cubicBezTo>
                      <a:pt x="0" y="115443"/>
                      <a:pt x="116713" y="0"/>
                      <a:pt x="260477" y="0"/>
                    </a:cubicBezTo>
                    <a:lnTo>
                      <a:pt x="7104507" y="0"/>
                    </a:lnTo>
                    <a:lnTo>
                      <a:pt x="7104507" y="19050"/>
                    </a:lnTo>
                    <a:lnTo>
                      <a:pt x="7104507" y="0"/>
                    </a:lnTo>
                    <a:cubicBezTo>
                      <a:pt x="7248144" y="0"/>
                      <a:pt x="7364985" y="115443"/>
                      <a:pt x="7364985" y="258318"/>
                    </a:cubicBezTo>
                    <a:lnTo>
                      <a:pt x="7345935" y="258318"/>
                    </a:lnTo>
                    <a:lnTo>
                      <a:pt x="7364985" y="258318"/>
                    </a:lnTo>
                    <a:lnTo>
                      <a:pt x="7364985" y="2432304"/>
                    </a:lnTo>
                    <a:lnTo>
                      <a:pt x="7345935" y="2432304"/>
                    </a:lnTo>
                    <a:lnTo>
                      <a:pt x="7364985" y="2432304"/>
                    </a:lnTo>
                    <a:cubicBezTo>
                      <a:pt x="7364985" y="2575052"/>
                      <a:pt x="7248272" y="2690622"/>
                      <a:pt x="7104507" y="2690622"/>
                    </a:cubicBezTo>
                    <a:lnTo>
                      <a:pt x="7104507" y="2671572"/>
                    </a:lnTo>
                    <a:lnTo>
                      <a:pt x="7104507" y="2690622"/>
                    </a:lnTo>
                    <a:lnTo>
                      <a:pt x="260477" y="2690622"/>
                    </a:lnTo>
                    <a:lnTo>
                      <a:pt x="260477" y="2671572"/>
                    </a:lnTo>
                    <a:lnTo>
                      <a:pt x="260477" y="2690622"/>
                    </a:lnTo>
                    <a:cubicBezTo>
                      <a:pt x="116713" y="2690622"/>
                      <a:pt x="0" y="2575179"/>
                      <a:pt x="0" y="2432304"/>
                    </a:cubicBezTo>
                    <a:lnTo>
                      <a:pt x="0" y="258318"/>
                    </a:lnTo>
                    <a:lnTo>
                      <a:pt x="19050" y="258318"/>
                    </a:lnTo>
                    <a:lnTo>
                      <a:pt x="0" y="258318"/>
                    </a:lnTo>
                    <a:moveTo>
                      <a:pt x="38100" y="258318"/>
                    </a:moveTo>
                    <a:lnTo>
                      <a:pt x="38100" y="2432304"/>
                    </a:lnTo>
                    <a:lnTo>
                      <a:pt x="19050" y="2432304"/>
                    </a:lnTo>
                    <a:lnTo>
                      <a:pt x="38100" y="2432304"/>
                    </a:lnTo>
                    <a:cubicBezTo>
                      <a:pt x="38100" y="2553716"/>
                      <a:pt x="137541" y="2652522"/>
                      <a:pt x="260477" y="2652522"/>
                    </a:cubicBezTo>
                    <a:lnTo>
                      <a:pt x="7104507" y="2652522"/>
                    </a:lnTo>
                    <a:cubicBezTo>
                      <a:pt x="7227443" y="2652522"/>
                      <a:pt x="7326885" y="2553843"/>
                      <a:pt x="7326885" y="2432304"/>
                    </a:cubicBezTo>
                    <a:lnTo>
                      <a:pt x="7326885" y="258318"/>
                    </a:lnTo>
                    <a:cubicBezTo>
                      <a:pt x="7326884" y="136779"/>
                      <a:pt x="7227570" y="38100"/>
                      <a:pt x="7104507" y="38100"/>
                    </a:cubicBezTo>
                    <a:lnTo>
                      <a:pt x="260477" y="38100"/>
                    </a:lnTo>
                    <a:lnTo>
                      <a:pt x="260477" y="19050"/>
                    </a:lnTo>
                    <a:lnTo>
                      <a:pt x="260477" y="38100"/>
                    </a:lnTo>
                    <a:cubicBezTo>
                      <a:pt x="137541" y="38100"/>
                      <a:pt x="38100" y="136779"/>
                      <a:pt x="38100" y="258318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64319" y="64319"/>
              <a:ext cx="8160218" cy="897332"/>
              <a:chOff x="0" y="0"/>
              <a:chExt cx="7250709" cy="7973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250684" cy="797306"/>
              </a:xfrm>
              <a:custGeom>
                <a:avLst/>
                <a:gdLst/>
                <a:ahLst/>
                <a:cxnLst/>
                <a:rect r="r" b="b" t="t" l="l"/>
                <a:pathLst>
                  <a:path h="797306" w="7250684">
                    <a:moveTo>
                      <a:pt x="0" y="193548"/>
                    </a:moveTo>
                    <a:cubicBezTo>
                      <a:pt x="0" y="86614"/>
                      <a:pt x="86614" y="0"/>
                      <a:pt x="193548" y="0"/>
                    </a:cubicBezTo>
                    <a:lnTo>
                      <a:pt x="7057136" y="0"/>
                    </a:lnTo>
                    <a:cubicBezTo>
                      <a:pt x="7164070" y="0"/>
                      <a:pt x="7250684" y="86614"/>
                      <a:pt x="7250684" y="193548"/>
                    </a:cubicBezTo>
                    <a:lnTo>
                      <a:pt x="7250684" y="603758"/>
                    </a:lnTo>
                    <a:cubicBezTo>
                      <a:pt x="7250684" y="710692"/>
                      <a:pt x="7164070" y="797306"/>
                      <a:pt x="7057136" y="797306"/>
                    </a:cubicBezTo>
                    <a:lnTo>
                      <a:pt x="193548" y="797306"/>
                    </a:lnTo>
                    <a:cubicBezTo>
                      <a:pt x="86614" y="797306"/>
                      <a:pt x="0" y="710692"/>
                      <a:pt x="0" y="603758"/>
                    </a:cubicBezTo>
                    <a:close/>
                  </a:path>
                </a:pathLst>
              </a:custGeom>
              <a:solidFill>
                <a:srgbClr val="D1EFE4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3920098" y="225344"/>
              <a:ext cx="448673" cy="560774"/>
              <a:chOff x="0" y="0"/>
              <a:chExt cx="398666" cy="49827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98662" cy="498277"/>
              </a:xfrm>
              <a:custGeom>
                <a:avLst/>
                <a:gdLst/>
                <a:ahLst/>
                <a:cxnLst/>
                <a:rect r="r" b="b" t="t" l="l"/>
                <a:pathLst>
                  <a:path h="498277" w="398662">
                    <a:moveTo>
                      <a:pt x="0" y="0"/>
                    </a:moveTo>
                    <a:lnTo>
                      <a:pt x="398662" y="0"/>
                    </a:lnTo>
                    <a:lnTo>
                      <a:pt x="398662" y="498277"/>
                    </a:lnTo>
                    <a:lnTo>
                      <a:pt x="0" y="498277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10361" t="0" r="-110362" b="0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38100"/>
                <a:ext cx="398666" cy="4601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12"/>
                  </a:lnSpc>
                </a:pPr>
                <a:r>
                  <a:rPr lang="en-US" sz="2312" b="true">
                    <a:solidFill>
                      <a:srgbClr val="4B4A4A"/>
                    </a:solidFill>
                    <a:latin typeface="Noto Serif Bold"/>
                    <a:ea typeface="Noto Serif Bold"/>
                    <a:cs typeface="Noto Serif Bold"/>
                    <a:sym typeface="Noto Serif Bold"/>
                  </a:rPr>
                  <a:t>3</a:t>
                </a: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63358" y="1162277"/>
              <a:ext cx="3762646" cy="476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3"/>
                </a:lnSpc>
              </a:pPr>
              <a:r>
                <a:rPr lang="en-US" sz="2180" b="true">
                  <a:solidFill>
                    <a:srgbClr val="4B4A4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ggplot_cost_curve()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63358" y="1801539"/>
              <a:ext cx="7562140" cy="863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1"/>
                </a:lnSpc>
              </a:pPr>
              <a:r>
                <a:rPr lang="en-US" sz="1758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Visualizing the convex cost function </a:t>
              </a:r>
              <a:r>
                <a:rPr lang="en-US" sz="1758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G(Q)</a:t>
              </a:r>
              <a:r>
                <a:rPr lang="en-US" sz="1758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 to confirm the minimum at </a:t>
              </a:r>
              <a:r>
                <a:rPr lang="en-US" sz="1758" i="true">
                  <a:solidFill>
                    <a:srgbClr val="4B4A4A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Q^*</a:t>
              </a:r>
              <a:r>
                <a:rPr lang="en-US" sz="1758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28700" y="9977133"/>
            <a:ext cx="13755738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Visualizations include plots of </a:t>
            </a:r>
            <a:r>
              <a:rPr lang="en-US" sz="1562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Total Expected Cost vs. Order Quantity</a:t>
            </a:r>
            <a:r>
              <a:rPr lang="en-US" sz="156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(confirming convexity) and the </a:t>
            </a:r>
            <a:r>
              <a:rPr lang="en-US" sz="1562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Demand Distribution</a:t>
            </a:r>
            <a:r>
              <a:rPr lang="en-US" sz="156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across seasonal scenarios.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860079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Key Findings, Limitations &amp; Extensions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085805"/>
            <a:ext cx="3733931" cy="720108"/>
            <a:chOff x="0" y="0"/>
            <a:chExt cx="3683659" cy="7104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83684" cy="710438"/>
            </a:xfrm>
            <a:custGeom>
              <a:avLst/>
              <a:gdLst/>
              <a:ahLst/>
              <a:cxnLst/>
              <a:rect r="r" b="b" t="t" l="l"/>
              <a:pathLst>
                <a:path h="710438" w="3683684">
                  <a:moveTo>
                    <a:pt x="0" y="272161"/>
                  </a:moveTo>
                  <a:cubicBezTo>
                    <a:pt x="0" y="121920"/>
                    <a:pt x="221799" y="0"/>
                    <a:pt x="495119" y="0"/>
                  </a:cubicBezTo>
                  <a:lnTo>
                    <a:pt x="3188586" y="0"/>
                  </a:lnTo>
                  <a:cubicBezTo>
                    <a:pt x="3462138" y="0"/>
                    <a:pt x="3683684" y="121920"/>
                    <a:pt x="3683684" y="272161"/>
                  </a:cubicBezTo>
                  <a:lnTo>
                    <a:pt x="3683684" y="438277"/>
                  </a:lnTo>
                  <a:cubicBezTo>
                    <a:pt x="3683684" y="588645"/>
                    <a:pt x="3461907" y="710438"/>
                    <a:pt x="3188586" y="710438"/>
                  </a:cubicBezTo>
                  <a:lnTo>
                    <a:pt x="495119" y="710438"/>
                  </a:lnTo>
                  <a:cubicBezTo>
                    <a:pt x="221799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28110" y="3156226"/>
            <a:ext cx="2262188" cy="53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2849">
                <a:solidFill>
                  <a:srgbClr val="3A6AB2"/>
                </a:solidFill>
                <a:latin typeface="Shrikhand"/>
                <a:ea typeface="Shrikhand"/>
                <a:cs typeface="Shrikhand"/>
                <a:sym typeface="Shrikhand"/>
              </a:rPr>
              <a:t>SYNTHESIS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7476" y="3932787"/>
            <a:ext cx="4590459" cy="3051724"/>
            <a:chOff x="0" y="0"/>
            <a:chExt cx="6120613" cy="40689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107938" cy="4056253"/>
            </a:xfrm>
            <a:custGeom>
              <a:avLst/>
              <a:gdLst/>
              <a:ahLst/>
              <a:cxnLst/>
              <a:rect r="r" b="b" t="t" l="l"/>
              <a:pathLst>
                <a:path h="4056253" w="6107938">
                  <a:moveTo>
                    <a:pt x="0" y="340233"/>
                  </a:moveTo>
                  <a:cubicBezTo>
                    <a:pt x="0" y="152273"/>
                    <a:pt x="152527" y="0"/>
                    <a:pt x="340614" y="0"/>
                  </a:cubicBezTo>
                  <a:lnTo>
                    <a:pt x="5767324" y="0"/>
                  </a:lnTo>
                  <a:cubicBezTo>
                    <a:pt x="5955411" y="0"/>
                    <a:pt x="6107938" y="152273"/>
                    <a:pt x="6107938" y="340233"/>
                  </a:cubicBezTo>
                  <a:lnTo>
                    <a:pt x="6107938" y="3716020"/>
                  </a:lnTo>
                  <a:cubicBezTo>
                    <a:pt x="6107938" y="3903980"/>
                    <a:pt x="5955411" y="4056253"/>
                    <a:pt x="5767324" y="4056253"/>
                  </a:cubicBezTo>
                  <a:lnTo>
                    <a:pt x="340614" y="4056253"/>
                  </a:lnTo>
                  <a:cubicBezTo>
                    <a:pt x="152527" y="4056253"/>
                    <a:pt x="0" y="3903980"/>
                    <a:pt x="0" y="3716020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0638" cy="4068953"/>
            </a:xfrm>
            <a:custGeom>
              <a:avLst/>
              <a:gdLst/>
              <a:ahLst/>
              <a:cxnLst/>
              <a:rect r="r" b="b" t="t" l="l"/>
              <a:pathLst>
                <a:path h="4068953" w="6120638">
                  <a:moveTo>
                    <a:pt x="0" y="346583"/>
                  </a:moveTo>
                  <a:cubicBezTo>
                    <a:pt x="0" y="155194"/>
                    <a:pt x="155321" y="0"/>
                    <a:pt x="346964" y="0"/>
                  </a:cubicBezTo>
                  <a:lnTo>
                    <a:pt x="5773674" y="0"/>
                  </a:lnTo>
                  <a:lnTo>
                    <a:pt x="5773674" y="6350"/>
                  </a:lnTo>
                  <a:lnTo>
                    <a:pt x="5773674" y="0"/>
                  </a:lnTo>
                  <a:cubicBezTo>
                    <a:pt x="5965317" y="0"/>
                    <a:pt x="6120638" y="155194"/>
                    <a:pt x="6120638" y="346583"/>
                  </a:cubicBezTo>
                  <a:lnTo>
                    <a:pt x="6114288" y="346583"/>
                  </a:lnTo>
                  <a:lnTo>
                    <a:pt x="6120638" y="346583"/>
                  </a:lnTo>
                  <a:lnTo>
                    <a:pt x="6120638" y="3722370"/>
                  </a:lnTo>
                  <a:lnTo>
                    <a:pt x="6114288" y="3722370"/>
                  </a:lnTo>
                  <a:lnTo>
                    <a:pt x="6120638" y="3722370"/>
                  </a:lnTo>
                  <a:cubicBezTo>
                    <a:pt x="6120638" y="3913759"/>
                    <a:pt x="5965317" y="4068953"/>
                    <a:pt x="5773674" y="4068953"/>
                  </a:cubicBezTo>
                  <a:lnTo>
                    <a:pt x="5773674" y="4062603"/>
                  </a:lnTo>
                  <a:lnTo>
                    <a:pt x="5773674" y="4068953"/>
                  </a:lnTo>
                  <a:lnTo>
                    <a:pt x="346964" y="4068953"/>
                  </a:lnTo>
                  <a:lnTo>
                    <a:pt x="346964" y="4062603"/>
                  </a:lnTo>
                  <a:lnTo>
                    <a:pt x="346964" y="4068953"/>
                  </a:lnTo>
                  <a:cubicBezTo>
                    <a:pt x="155321" y="4068953"/>
                    <a:pt x="0" y="3913759"/>
                    <a:pt x="0" y="3722370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722370"/>
                  </a:lnTo>
                  <a:lnTo>
                    <a:pt x="6350" y="3722370"/>
                  </a:lnTo>
                  <a:lnTo>
                    <a:pt x="12700" y="3722370"/>
                  </a:lnTo>
                  <a:cubicBezTo>
                    <a:pt x="12700" y="3906774"/>
                    <a:pt x="162306" y="4056253"/>
                    <a:pt x="346964" y="4056253"/>
                  </a:cubicBezTo>
                  <a:lnTo>
                    <a:pt x="5773674" y="4056253"/>
                  </a:lnTo>
                  <a:cubicBezTo>
                    <a:pt x="5958332" y="4056253"/>
                    <a:pt x="6107938" y="3906774"/>
                    <a:pt x="6107938" y="3722370"/>
                  </a:cubicBezTo>
                  <a:lnTo>
                    <a:pt x="6107938" y="346583"/>
                  </a:lnTo>
                  <a:cubicBezTo>
                    <a:pt x="6107938" y="162179"/>
                    <a:pt x="5958205" y="12700"/>
                    <a:pt x="5773674" y="12700"/>
                  </a:cubicBezTo>
                  <a:lnTo>
                    <a:pt x="346964" y="12700"/>
                  </a:lnTo>
                  <a:lnTo>
                    <a:pt x="346964" y="6350"/>
                  </a:lnTo>
                  <a:lnTo>
                    <a:pt x="346964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5284" y="4221061"/>
            <a:ext cx="3544043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🏆</a:t>
            </a: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Key Finding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284" y="4767415"/>
            <a:ext cx="3994842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Optimization reduces daily loss by </a:t>
            </a:r>
            <a:r>
              <a:rPr lang="en-US" sz="21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~15%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compared to naive mean-stocking strategies.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1922" y="3932787"/>
            <a:ext cx="4590602" cy="3051724"/>
            <a:chOff x="0" y="0"/>
            <a:chExt cx="6120803" cy="4068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108065" cy="4056253"/>
            </a:xfrm>
            <a:custGeom>
              <a:avLst/>
              <a:gdLst/>
              <a:ahLst/>
              <a:cxnLst/>
              <a:rect r="r" b="b" t="t" l="l"/>
              <a:pathLst>
                <a:path h="4056253" w="6108065">
                  <a:moveTo>
                    <a:pt x="0" y="340233"/>
                  </a:moveTo>
                  <a:cubicBezTo>
                    <a:pt x="0" y="152273"/>
                    <a:pt x="152527" y="0"/>
                    <a:pt x="340614" y="0"/>
                  </a:cubicBezTo>
                  <a:lnTo>
                    <a:pt x="5767451" y="0"/>
                  </a:lnTo>
                  <a:cubicBezTo>
                    <a:pt x="5955538" y="0"/>
                    <a:pt x="6108065" y="152273"/>
                    <a:pt x="6108065" y="340233"/>
                  </a:cubicBezTo>
                  <a:lnTo>
                    <a:pt x="6108065" y="3716020"/>
                  </a:lnTo>
                  <a:cubicBezTo>
                    <a:pt x="6108065" y="3903980"/>
                    <a:pt x="5955538" y="4056253"/>
                    <a:pt x="5767451" y="4056253"/>
                  </a:cubicBezTo>
                  <a:lnTo>
                    <a:pt x="340614" y="4056253"/>
                  </a:lnTo>
                  <a:cubicBezTo>
                    <a:pt x="152527" y="4056253"/>
                    <a:pt x="0" y="3903980"/>
                    <a:pt x="0" y="3716020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20765" cy="4068953"/>
            </a:xfrm>
            <a:custGeom>
              <a:avLst/>
              <a:gdLst/>
              <a:ahLst/>
              <a:cxnLst/>
              <a:rect r="r" b="b" t="t" l="l"/>
              <a:pathLst>
                <a:path h="4068953" w="6120765">
                  <a:moveTo>
                    <a:pt x="0" y="346583"/>
                  </a:moveTo>
                  <a:cubicBezTo>
                    <a:pt x="0" y="155194"/>
                    <a:pt x="155321" y="0"/>
                    <a:pt x="346964" y="0"/>
                  </a:cubicBezTo>
                  <a:lnTo>
                    <a:pt x="5773801" y="0"/>
                  </a:lnTo>
                  <a:lnTo>
                    <a:pt x="5773801" y="6350"/>
                  </a:lnTo>
                  <a:lnTo>
                    <a:pt x="5773801" y="0"/>
                  </a:lnTo>
                  <a:cubicBezTo>
                    <a:pt x="5965444" y="0"/>
                    <a:pt x="6120765" y="155194"/>
                    <a:pt x="6120765" y="346583"/>
                  </a:cubicBezTo>
                  <a:lnTo>
                    <a:pt x="6114415" y="346583"/>
                  </a:lnTo>
                  <a:lnTo>
                    <a:pt x="6120765" y="346583"/>
                  </a:lnTo>
                  <a:lnTo>
                    <a:pt x="6120765" y="3722370"/>
                  </a:lnTo>
                  <a:lnTo>
                    <a:pt x="6114415" y="3722370"/>
                  </a:lnTo>
                  <a:lnTo>
                    <a:pt x="6120765" y="3722370"/>
                  </a:lnTo>
                  <a:cubicBezTo>
                    <a:pt x="6120765" y="3913759"/>
                    <a:pt x="5965444" y="4068953"/>
                    <a:pt x="5773801" y="4068953"/>
                  </a:cubicBezTo>
                  <a:lnTo>
                    <a:pt x="5773801" y="4062603"/>
                  </a:lnTo>
                  <a:lnTo>
                    <a:pt x="5773801" y="4068953"/>
                  </a:lnTo>
                  <a:lnTo>
                    <a:pt x="346964" y="4068953"/>
                  </a:lnTo>
                  <a:lnTo>
                    <a:pt x="346964" y="4062603"/>
                  </a:lnTo>
                  <a:lnTo>
                    <a:pt x="346964" y="4068953"/>
                  </a:lnTo>
                  <a:cubicBezTo>
                    <a:pt x="155321" y="4068953"/>
                    <a:pt x="0" y="3913759"/>
                    <a:pt x="0" y="3722370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722370"/>
                  </a:lnTo>
                  <a:lnTo>
                    <a:pt x="6350" y="3722370"/>
                  </a:lnTo>
                  <a:lnTo>
                    <a:pt x="12700" y="3722370"/>
                  </a:lnTo>
                  <a:cubicBezTo>
                    <a:pt x="12700" y="3906774"/>
                    <a:pt x="162306" y="4056253"/>
                    <a:pt x="346964" y="4056253"/>
                  </a:cubicBezTo>
                  <a:lnTo>
                    <a:pt x="5773801" y="4056253"/>
                  </a:lnTo>
                  <a:cubicBezTo>
                    <a:pt x="5958459" y="4056253"/>
                    <a:pt x="6108065" y="3906774"/>
                    <a:pt x="6108065" y="3722370"/>
                  </a:cubicBezTo>
                  <a:lnTo>
                    <a:pt x="6108065" y="346583"/>
                  </a:lnTo>
                  <a:cubicBezTo>
                    <a:pt x="6108065" y="162179"/>
                    <a:pt x="5958459" y="12700"/>
                    <a:pt x="5773801" y="12700"/>
                  </a:cubicBezTo>
                  <a:lnTo>
                    <a:pt x="346964" y="12700"/>
                  </a:lnTo>
                  <a:lnTo>
                    <a:pt x="346964" y="6350"/>
                  </a:lnTo>
                  <a:lnTo>
                    <a:pt x="346964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149731" y="4221061"/>
            <a:ext cx="3544043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⚠️</a:t>
            </a: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Limitations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9731" y="4767415"/>
            <a:ext cx="3994995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Assumes Normal distribution; does not account for multi-day "persistent" rain events that shift demand dynamics.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476" y="7258498"/>
            <a:ext cx="9455048" cy="2144468"/>
            <a:chOff x="0" y="0"/>
            <a:chExt cx="12606731" cy="28592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2593955" cy="2846578"/>
            </a:xfrm>
            <a:custGeom>
              <a:avLst/>
              <a:gdLst/>
              <a:ahLst/>
              <a:cxnLst/>
              <a:rect r="r" b="b" t="t" l="l"/>
              <a:pathLst>
                <a:path h="2846578" w="12593955">
                  <a:moveTo>
                    <a:pt x="0" y="340233"/>
                  </a:moveTo>
                  <a:cubicBezTo>
                    <a:pt x="0" y="152273"/>
                    <a:pt x="152908" y="0"/>
                    <a:pt x="341376" y="0"/>
                  </a:cubicBezTo>
                  <a:lnTo>
                    <a:pt x="12252579" y="0"/>
                  </a:lnTo>
                  <a:cubicBezTo>
                    <a:pt x="12441174" y="0"/>
                    <a:pt x="12593955" y="152273"/>
                    <a:pt x="12593955" y="340233"/>
                  </a:cubicBezTo>
                  <a:lnTo>
                    <a:pt x="12593955" y="2506345"/>
                  </a:lnTo>
                  <a:cubicBezTo>
                    <a:pt x="12593955" y="2694305"/>
                    <a:pt x="12441048" y="2846578"/>
                    <a:pt x="12252579" y="2846578"/>
                  </a:cubicBezTo>
                  <a:lnTo>
                    <a:pt x="341376" y="2846578"/>
                  </a:lnTo>
                  <a:cubicBezTo>
                    <a:pt x="152908" y="2846578"/>
                    <a:pt x="0" y="2694305"/>
                    <a:pt x="0" y="2506345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06655" cy="2859278"/>
            </a:xfrm>
            <a:custGeom>
              <a:avLst/>
              <a:gdLst/>
              <a:ahLst/>
              <a:cxnLst/>
              <a:rect r="r" b="b" t="t" l="l"/>
              <a:pathLst>
                <a:path h="2859278" w="12606655">
                  <a:moveTo>
                    <a:pt x="0" y="346583"/>
                  </a:moveTo>
                  <a:cubicBezTo>
                    <a:pt x="0" y="155194"/>
                    <a:pt x="155702" y="0"/>
                    <a:pt x="347726" y="0"/>
                  </a:cubicBezTo>
                  <a:lnTo>
                    <a:pt x="12258929" y="0"/>
                  </a:lnTo>
                  <a:lnTo>
                    <a:pt x="12258929" y="6350"/>
                  </a:lnTo>
                  <a:lnTo>
                    <a:pt x="12258929" y="0"/>
                  </a:lnTo>
                  <a:cubicBezTo>
                    <a:pt x="12450953" y="0"/>
                    <a:pt x="12606655" y="155194"/>
                    <a:pt x="12606655" y="346583"/>
                  </a:cubicBezTo>
                  <a:lnTo>
                    <a:pt x="12600305" y="346583"/>
                  </a:lnTo>
                  <a:lnTo>
                    <a:pt x="12606655" y="346583"/>
                  </a:lnTo>
                  <a:lnTo>
                    <a:pt x="12606655" y="2512695"/>
                  </a:lnTo>
                  <a:lnTo>
                    <a:pt x="12600305" y="2512695"/>
                  </a:lnTo>
                  <a:lnTo>
                    <a:pt x="12606655" y="2512695"/>
                  </a:lnTo>
                  <a:cubicBezTo>
                    <a:pt x="12606655" y="2704084"/>
                    <a:pt x="12450953" y="2859278"/>
                    <a:pt x="12258929" y="2859278"/>
                  </a:cubicBezTo>
                  <a:lnTo>
                    <a:pt x="12258929" y="2852928"/>
                  </a:lnTo>
                  <a:lnTo>
                    <a:pt x="12258929" y="2859278"/>
                  </a:lnTo>
                  <a:lnTo>
                    <a:pt x="347726" y="2859278"/>
                  </a:lnTo>
                  <a:lnTo>
                    <a:pt x="347726" y="2852928"/>
                  </a:lnTo>
                  <a:lnTo>
                    <a:pt x="347726" y="2859278"/>
                  </a:lnTo>
                  <a:cubicBezTo>
                    <a:pt x="155702" y="2859278"/>
                    <a:pt x="0" y="2704084"/>
                    <a:pt x="0" y="2512695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512695"/>
                  </a:lnTo>
                  <a:lnTo>
                    <a:pt x="6350" y="2512695"/>
                  </a:lnTo>
                  <a:lnTo>
                    <a:pt x="12700" y="2512695"/>
                  </a:lnTo>
                  <a:cubicBezTo>
                    <a:pt x="12700" y="2697099"/>
                    <a:pt x="162687" y="2846578"/>
                    <a:pt x="347726" y="2846578"/>
                  </a:cubicBezTo>
                  <a:lnTo>
                    <a:pt x="12258929" y="2846578"/>
                  </a:lnTo>
                  <a:cubicBezTo>
                    <a:pt x="12443968" y="2846578"/>
                    <a:pt x="12593955" y="2697099"/>
                    <a:pt x="12593955" y="2512695"/>
                  </a:cubicBezTo>
                  <a:lnTo>
                    <a:pt x="12593955" y="346583"/>
                  </a:lnTo>
                  <a:cubicBezTo>
                    <a:pt x="12594082" y="162179"/>
                    <a:pt x="12444095" y="12700"/>
                    <a:pt x="12258929" y="12700"/>
                  </a:cubicBezTo>
                  <a:lnTo>
                    <a:pt x="347726" y="12700"/>
                  </a:lnTo>
                  <a:lnTo>
                    <a:pt x="347726" y="6350"/>
                  </a:lnTo>
                  <a:lnTo>
                    <a:pt x="347726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85284" y="7546772"/>
            <a:ext cx="3544043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🔭</a:t>
            </a: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Extensions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284" y="8093126"/>
            <a:ext cx="8859441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Applying </a:t>
            </a:r>
            <a:r>
              <a:rPr lang="en-US" sz="21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Thompson Sampling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for reinforcement learning on demand               enabling adaptive inventory decisions over time.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56262"/>
            <a:ext cx="11578380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References &amp; Acknowledgments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588286"/>
            <a:ext cx="3234521" cy="706183"/>
            <a:chOff x="0" y="0"/>
            <a:chExt cx="3428403" cy="748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8365" cy="748411"/>
            </a:xfrm>
            <a:custGeom>
              <a:avLst/>
              <a:gdLst/>
              <a:ahLst/>
              <a:cxnLst/>
              <a:rect r="r" b="b" t="t" l="l"/>
              <a:pathLst>
                <a:path h="748411" w="3428365">
                  <a:moveTo>
                    <a:pt x="0" y="278511"/>
                  </a:moveTo>
                  <a:cubicBezTo>
                    <a:pt x="0" y="124587"/>
                    <a:pt x="126492" y="0"/>
                    <a:pt x="282194" y="0"/>
                  </a:cubicBezTo>
                  <a:lnTo>
                    <a:pt x="3146171" y="0"/>
                  </a:lnTo>
                  <a:lnTo>
                    <a:pt x="3146171" y="6350"/>
                  </a:lnTo>
                  <a:lnTo>
                    <a:pt x="3146171" y="0"/>
                  </a:lnTo>
                  <a:cubicBezTo>
                    <a:pt x="3302000" y="0"/>
                    <a:pt x="3428365" y="124587"/>
                    <a:pt x="3428365" y="278511"/>
                  </a:cubicBezTo>
                  <a:lnTo>
                    <a:pt x="3422015" y="278511"/>
                  </a:lnTo>
                  <a:lnTo>
                    <a:pt x="3428365" y="278511"/>
                  </a:lnTo>
                  <a:lnTo>
                    <a:pt x="3428365" y="469900"/>
                  </a:lnTo>
                  <a:lnTo>
                    <a:pt x="3422015" y="469900"/>
                  </a:lnTo>
                  <a:lnTo>
                    <a:pt x="3428365" y="469900"/>
                  </a:lnTo>
                  <a:cubicBezTo>
                    <a:pt x="3428365" y="623824"/>
                    <a:pt x="3301873" y="748411"/>
                    <a:pt x="3146171" y="748411"/>
                  </a:cubicBezTo>
                  <a:lnTo>
                    <a:pt x="3146171" y="742061"/>
                  </a:lnTo>
                  <a:lnTo>
                    <a:pt x="3146171" y="748411"/>
                  </a:lnTo>
                  <a:lnTo>
                    <a:pt x="282194" y="748411"/>
                  </a:lnTo>
                  <a:lnTo>
                    <a:pt x="282194" y="742061"/>
                  </a:lnTo>
                  <a:lnTo>
                    <a:pt x="282194" y="748411"/>
                  </a:lnTo>
                  <a:cubicBezTo>
                    <a:pt x="126492" y="748538"/>
                    <a:pt x="0" y="623824"/>
                    <a:pt x="0" y="469900"/>
                  </a:cubicBezTo>
                  <a:lnTo>
                    <a:pt x="0" y="278511"/>
                  </a:lnTo>
                  <a:lnTo>
                    <a:pt x="6350" y="278511"/>
                  </a:lnTo>
                  <a:lnTo>
                    <a:pt x="0" y="278511"/>
                  </a:lnTo>
                  <a:moveTo>
                    <a:pt x="12700" y="278511"/>
                  </a:moveTo>
                  <a:lnTo>
                    <a:pt x="12700" y="469900"/>
                  </a:lnTo>
                  <a:lnTo>
                    <a:pt x="6350" y="469900"/>
                  </a:lnTo>
                  <a:lnTo>
                    <a:pt x="12700" y="469900"/>
                  </a:lnTo>
                  <a:cubicBezTo>
                    <a:pt x="12700" y="616585"/>
                    <a:pt x="133350" y="735711"/>
                    <a:pt x="282194" y="735711"/>
                  </a:cubicBezTo>
                  <a:lnTo>
                    <a:pt x="3146171" y="735711"/>
                  </a:lnTo>
                  <a:cubicBezTo>
                    <a:pt x="3295142" y="735711"/>
                    <a:pt x="3415665" y="616585"/>
                    <a:pt x="3415665" y="469900"/>
                  </a:cubicBezTo>
                  <a:lnTo>
                    <a:pt x="3415665" y="278511"/>
                  </a:lnTo>
                  <a:cubicBezTo>
                    <a:pt x="3415665" y="131826"/>
                    <a:pt x="3295015" y="12700"/>
                    <a:pt x="3146171" y="12700"/>
                  </a:cubicBezTo>
                  <a:lnTo>
                    <a:pt x="282194" y="12700"/>
                  </a:lnTo>
                  <a:lnTo>
                    <a:pt x="282194" y="6350"/>
                  </a:lnTo>
                  <a:lnTo>
                    <a:pt x="282194" y="12700"/>
                  </a:lnTo>
                  <a:cubicBezTo>
                    <a:pt x="133350" y="12700"/>
                    <a:pt x="12700" y="131826"/>
                    <a:pt x="12700" y="278511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12066" y="2682637"/>
            <a:ext cx="3505943" cy="42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149">
                <a:solidFill>
                  <a:srgbClr val="3A6AB2"/>
                </a:solidFill>
                <a:latin typeface="Yeseva One"/>
                <a:ea typeface="Yeseva One"/>
                <a:cs typeface="Yeseva One"/>
                <a:sym typeface="Yeseva One"/>
              </a:rPr>
              <a:t>ACADEMIC CONTEXT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88262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References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4138" y="4615901"/>
            <a:ext cx="76200" cy="2344341"/>
            <a:chOff x="0" y="0"/>
            <a:chExt cx="101600" cy="31257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" cy="3125851"/>
            </a:xfrm>
            <a:custGeom>
              <a:avLst/>
              <a:gdLst/>
              <a:ahLst/>
              <a:cxnLst/>
              <a:rect r="r" b="b" t="t" l="l"/>
              <a:pathLst>
                <a:path h="3125851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125851"/>
                  </a:lnTo>
                  <a:lnTo>
                    <a:pt x="0" y="3125851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1959" y="4549226"/>
            <a:ext cx="3682298" cy="1328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Optimization and Numerical Methods Course Notes, 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TA</a:t>
            </a:r>
            <a:r>
              <a:rPr lang="en-US" sz="21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: Gahin Maiti 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, ISI - B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34258" y="4615901"/>
            <a:ext cx="76200" cy="2344341"/>
            <a:chOff x="0" y="0"/>
            <a:chExt cx="101600" cy="3125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600" cy="3125851"/>
            </a:xfrm>
            <a:custGeom>
              <a:avLst/>
              <a:gdLst/>
              <a:ahLst/>
              <a:cxnLst/>
              <a:rect r="r" b="b" t="t" l="l"/>
              <a:pathLst>
                <a:path h="3125851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125851"/>
                  </a:lnTo>
                  <a:lnTo>
                    <a:pt x="0" y="3125851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432079" y="4549226"/>
            <a:ext cx="3366049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Inventory Management and Production Planning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— Silver, Pyke &amp; Peterson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4138" y="7451084"/>
            <a:ext cx="76200" cy="983456"/>
            <a:chOff x="0" y="0"/>
            <a:chExt cx="101600" cy="1311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" cy="1311275"/>
            </a:xfrm>
            <a:custGeom>
              <a:avLst/>
              <a:gdLst/>
              <a:ahLst/>
              <a:cxnLst/>
              <a:rect r="r" b="b" t="t" l="l"/>
              <a:pathLst>
                <a:path h="1311275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11275"/>
                  </a:lnTo>
                  <a:lnTo>
                    <a:pt x="0" y="1311275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51959" y="7384409"/>
            <a:ext cx="7446169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4B4A4A"/>
                </a:solidFill>
                <a:latin typeface="Arimo Italics"/>
                <a:ea typeface="Arimo Italics"/>
                <a:cs typeface="Arimo Italics"/>
                <a:sym typeface="Arimo Italics"/>
              </a:rPr>
              <a:t>CVXR Package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— Fu, Narasimhan &amp; Boyd (Convex Optimization in R)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9397" y="388262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Acknowledgments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9397" y="4513812"/>
            <a:ext cx="7805890" cy="132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This project was developed as part of the Optimization and Numerical Methods course at the Indian Statistical Institute, Bangalore.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99397" y="6298406"/>
            <a:ext cx="7805890" cy="2384822"/>
            <a:chOff x="0" y="0"/>
            <a:chExt cx="10407853" cy="31797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07903" cy="3179699"/>
            </a:xfrm>
            <a:custGeom>
              <a:avLst/>
              <a:gdLst/>
              <a:ahLst/>
              <a:cxnLst/>
              <a:rect r="r" b="b" t="t" l="l"/>
              <a:pathLst>
                <a:path h="3179699" w="10407903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067671" y="0"/>
                  </a:lnTo>
                  <a:cubicBezTo>
                    <a:pt x="10255631" y="0"/>
                    <a:pt x="10407903" y="152273"/>
                    <a:pt x="10407903" y="340233"/>
                  </a:cubicBezTo>
                  <a:lnTo>
                    <a:pt x="10407903" y="2839466"/>
                  </a:lnTo>
                  <a:cubicBezTo>
                    <a:pt x="10407903" y="3027426"/>
                    <a:pt x="10255631" y="3179699"/>
                    <a:pt x="10067671" y="3179699"/>
                  </a:cubicBezTo>
                  <a:lnTo>
                    <a:pt x="340233" y="3179699"/>
                  </a:lnTo>
                  <a:cubicBezTo>
                    <a:pt x="152273" y="3179826"/>
                    <a:pt x="0" y="3027426"/>
                    <a:pt x="0" y="2839466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82918" y="6714087"/>
            <a:ext cx="442912" cy="354359"/>
            <a:chOff x="0" y="0"/>
            <a:chExt cx="590550" cy="47247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90550" cy="472440"/>
            </a:xfrm>
            <a:custGeom>
              <a:avLst/>
              <a:gdLst/>
              <a:ahLst/>
              <a:cxnLst/>
              <a:rect r="r" b="b" t="t" l="l"/>
              <a:pathLst>
                <a:path h="47244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72440"/>
                  </a:lnTo>
                  <a:lnTo>
                    <a:pt x="0" y="472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5" t="0" r="-815" b="-8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509352" y="664324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Thank You!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09352" y="7274423"/>
            <a:ext cx="65124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Questions? — Pritham Prajwin V (BSD-BG-2512), ISI Bangalore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1959" y="5910110"/>
            <a:ext cx="3682298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Various textbooks from multi sources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DAHIsfUihcw</dc:identifier>
  <dcterms:modified xsi:type="dcterms:W3CDTF">2011-08-01T06:04:30Z</dcterms:modified>
  <cp:revision>1</cp:revision>
  <dc:title>Optimizing-Umbrella-Inventory-v2.pptx</dc:title>
</cp:coreProperties>
</file>